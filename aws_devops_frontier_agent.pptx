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977580"/>
            <a:ext cx="2641550" cy="1123950"/>
          </a:xfrm>
          <a:prstGeom prst="roundRect">
            <a:avLst>
              <a:gd name="adj" fmla="val 130169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51150" y="3977580"/>
            <a:ext cx="2641550" cy="1123950"/>
          </a:xfrm>
          <a:prstGeom prst="roundRect">
            <a:avLst>
              <a:gd name="adj" fmla="val 130169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01" y="3977580"/>
            <a:ext cx="2641699" cy="1123950"/>
          </a:xfrm>
          <a:prstGeom prst="roundRect">
            <a:avLst>
              <a:gd name="adj" fmla="val 130169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74904" y="41970"/>
            <a:ext cx="839419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0"/>
              </a:lnSpc>
              <a:buNone/>
            </a:pPr>
            <a:r>
              <a:rPr lang="en-US" sz="9000" dirty="0">
                <a:solidFill>
                  <a:srgbClr val="F5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🤖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374904" y="1946970"/>
            <a:ext cx="8394192" cy="118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360"/>
              </a:lnSpc>
              <a:buNone/>
            </a:pPr>
            <a:r>
              <a:rPr lang="en-US" sz="6240" b="1" dirty="0">
                <a:solidFill>
                  <a:srgbClr val="7C3AE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AWS DevOps Agent</a:t>
            </a:r>
            <a:endParaRPr lang="en-US" sz="6240" dirty="0"/>
          </a:p>
        </p:txBody>
      </p:sp>
      <p:sp>
        <p:nvSpPr>
          <p:cNvPr id="7" name="Text 5"/>
          <p:cNvSpPr/>
          <p:nvPr/>
        </p:nvSpPr>
        <p:spPr>
          <a:xfrm>
            <a:off x="374904" y="3288060"/>
            <a:ext cx="8394192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9AA7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Frontier agent for operational excellence</a:t>
            </a:r>
            <a:endParaRPr lang="en-US" sz="1620" dirty="0"/>
          </a:p>
        </p:txBody>
      </p:sp>
      <p:sp>
        <p:nvSpPr>
          <p:cNvPr id="8" name="Text 6"/>
          <p:cNvSpPr/>
          <p:nvPr/>
        </p:nvSpPr>
        <p:spPr>
          <a:xfrm>
            <a:off x="595948" y="4139505"/>
            <a:ext cx="236405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24/7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5948" y="4444305"/>
            <a:ext cx="23640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6D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triage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13075" y="4139505"/>
            <a:ext cx="2317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+ multicloud + on-prem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89898" y="4749105"/>
            <a:ext cx="23640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6D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Cross-environment investigations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83847" y="4139505"/>
            <a:ext cx="236420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Charts &amp; reports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83847" y="4444305"/>
            <a:ext cx="236420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6D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Natural-language operations insight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98010" y="1028700"/>
            <a:ext cx="1714500" cy="1714500"/>
          </a:xfrm>
          <a:prstGeom prst="roundRect">
            <a:avLst>
              <a:gd name="adj" fmla="val 53328000"/>
            </a:avLst>
          </a:prstGeom>
          <a:solidFill>
            <a:srgbClr val="7C3AED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14400" y="3170039"/>
            <a:ext cx="1047750" cy="1047750"/>
          </a:xfrm>
          <a:prstGeom prst="roundRect">
            <a:avLst>
              <a:gd name="adj" fmla="val 87264000"/>
            </a:avLst>
          </a:prstGeom>
          <a:solidFill>
            <a:srgbClr val="06B6D4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2394645"/>
            <a:ext cx="4000500" cy="2305050"/>
          </a:xfrm>
          <a:prstGeom prst="roundRect">
            <a:avLst>
              <a:gd name="adj" fmla="val 63471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86300" y="2394645"/>
            <a:ext cx="4000500" cy="2305050"/>
          </a:xfrm>
          <a:prstGeom prst="roundRect">
            <a:avLst>
              <a:gd name="adj" fmla="val 63471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443954"/>
            <a:ext cx="8394192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760"/>
              </a:lnSpc>
              <a:buNone/>
            </a:pPr>
            <a:r>
              <a:rPr lang="en-US" sz="3840" b="1" dirty="0">
                <a:solidFill>
                  <a:srgbClr val="F5F7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Overview</a:t>
            </a:r>
            <a:endParaRPr lang="en-US" sz="3840" dirty="0"/>
          </a:p>
        </p:txBody>
      </p:sp>
      <p:sp>
        <p:nvSpPr>
          <p:cNvPr id="7" name="Text 5"/>
          <p:cNvSpPr/>
          <p:nvPr/>
        </p:nvSpPr>
        <p:spPr>
          <a:xfrm>
            <a:off x="457200" y="1289745"/>
            <a:ext cx="82296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6D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DevOps Agent is an autonomous operations teammate that investigates incidents, identifies operational improvements, and supports reliability work across AWS, multicloud, and hybrid environments.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3425" y="2670870"/>
            <a:ext cx="351701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5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🔍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733425" y="3128070"/>
            <a:ext cx="35170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learns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3425" y="3509070"/>
            <a:ext cx="34480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6D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learns resources and their relationships, then correlates telemetry, code, and deployment data to understand how the application behaves end to end.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62525" y="2670870"/>
            <a:ext cx="351701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5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🧭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962525" y="3128070"/>
            <a:ext cx="35170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teams use 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62525" y="3509070"/>
            <a:ext cx="34480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6D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Admins manage Agent Spaces and integrations in AWS Management Console, while operators use the web app for investigations, topology views, chat, and prevention recommendations.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9160"/>
            <a:ext cx="1914525" cy="2952750"/>
          </a:xfrm>
          <a:prstGeom prst="roundRect">
            <a:avLst>
              <a:gd name="adj" fmla="val 7641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62225" y="659160"/>
            <a:ext cx="1914525" cy="2952750"/>
          </a:xfrm>
          <a:prstGeom prst="roundRect">
            <a:avLst>
              <a:gd name="adj" fmla="val 7641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67250" y="659160"/>
            <a:ext cx="1914525" cy="2952750"/>
          </a:xfrm>
          <a:prstGeom prst="roundRect">
            <a:avLst>
              <a:gd name="adj" fmla="val 7641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72275" y="659160"/>
            <a:ext cx="1914525" cy="2952750"/>
          </a:xfrm>
          <a:prstGeom prst="roundRect">
            <a:avLst>
              <a:gd name="adj" fmla="val 7641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3916710"/>
            <a:ext cx="8229600" cy="1581150"/>
          </a:xfrm>
          <a:prstGeom prst="roundRect">
            <a:avLst>
              <a:gd name="adj" fmla="val 9253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-354211"/>
            <a:ext cx="8394192" cy="708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80"/>
              </a:lnSpc>
              <a:buNone/>
            </a:pPr>
            <a:r>
              <a:rPr lang="en-US" sz="3720" b="1" dirty="0">
                <a:solidFill>
                  <a:srgbClr val="F5F7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Benefits</a:t>
            </a:r>
            <a:endParaRPr lang="en-US" sz="3720" dirty="0"/>
          </a:p>
        </p:txBody>
      </p:sp>
      <p:sp>
        <p:nvSpPr>
          <p:cNvPr id="8" name="Text 6"/>
          <p:cNvSpPr/>
          <p:nvPr/>
        </p:nvSpPr>
        <p:spPr>
          <a:xfrm>
            <a:off x="657225" y="859185"/>
            <a:ext cx="15447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5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657225" y="1278285"/>
            <a:ext cx="15144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MTTR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57225" y="2040285"/>
            <a:ext cx="15447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AA7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Immediate triage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7225" y="2268885"/>
            <a:ext cx="15144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6D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Starts investigating as soon as an alert or ticket arrives.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62250" y="859185"/>
            <a:ext cx="15447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5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🛡️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2762250" y="1278285"/>
            <a:ext cx="15447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Prevention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2762250" y="1697385"/>
            <a:ext cx="15447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AA7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Beyond firefighting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62250" y="1925985"/>
            <a:ext cx="151447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6D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Recommends improvements for observability, infrastructure, pipelines, and resilience.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67275" y="859185"/>
            <a:ext cx="15447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5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🧠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4867275" y="1278285"/>
            <a:ext cx="15144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insight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4867275" y="2040285"/>
            <a:ext cx="15447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AA7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 language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67275" y="2268885"/>
            <a:ext cx="15144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6D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can query resource health, incident patterns, deployments, charts, and reports conversationally.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972300" y="859185"/>
            <a:ext cx="15447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5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👥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6972300" y="1278285"/>
            <a:ext cx="15447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 toil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6972300" y="1697385"/>
            <a:ext cx="15447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AA7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focus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72300" y="1925985"/>
            <a:ext cx="151447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6D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Frees engineers from repetitive investigation work so they can focus on platform improvements.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95325" y="4154835"/>
            <a:ext cx="79084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proof points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95325" y="4507260"/>
            <a:ext cx="20694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5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Western Governors University: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30476" y="4507260"/>
            <a:ext cx="6023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5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Zenchef: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65775" y="4507260"/>
            <a:ext cx="17779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5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United Airlines &amp; T-Mobile: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78285"/>
            <a:ext cx="4000500" cy="3600450"/>
          </a:xfrm>
          <a:prstGeom prst="roundRect">
            <a:avLst>
              <a:gd name="adj" fmla="val 40635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278285"/>
            <a:ext cx="4000500" cy="3600450"/>
          </a:xfrm>
          <a:prstGeom prst="roundRect">
            <a:avLst>
              <a:gd name="adj" fmla="val 40635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264914"/>
            <a:ext cx="8394192" cy="708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80"/>
              </a:lnSpc>
              <a:buNone/>
            </a:pPr>
            <a:r>
              <a:rPr lang="en-US" sz="3720" b="1" dirty="0">
                <a:solidFill>
                  <a:srgbClr val="F5F7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Integration mechanism</a:t>
            </a:r>
            <a:endParaRPr lang="en-US" sz="3720" dirty="0"/>
          </a:p>
        </p:txBody>
      </p:sp>
      <p:sp>
        <p:nvSpPr>
          <p:cNvPr id="5" name="Text 3"/>
          <p:cNvSpPr/>
          <p:nvPr/>
        </p:nvSpPr>
        <p:spPr>
          <a:xfrm>
            <a:off x="733425" y="1554510"/>
            <a:ext cx="35170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building blocks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3425" y="1973610"/>
            <a:ext cx="3448050" cy="2628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6D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Spaces define accessible AWS accounts, tool connections, and permissions.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6D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service builds an application topology graph to map components and dependencies.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6D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Operators use the DevOps Agent web app for chat, investigations, topology, and prevention views.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6D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Findings and mitigations can be routed into Slack, ServiceNow, PagerDuty, and AWS Support workflows.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62525" y="1554510"/>
            <a:ext cx="35170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Built-in ecosystem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62525" y="1992660"/>
            <a:ext cx="102984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5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Observability: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62525" y="2602260"/>
            <a:ext cx="1214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5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&amp; delivery: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62525" y="3440460"/>
            <a:ext cx="9618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5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Extensibility: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40061"/>
            <a:ext cx="1524000" cy="1524000"/>
          </a:xfrm>
          <a:prstGeom prst="roundRect">
            <a:avLst>
              <a:gd name="adj" fmla="val 59994000"/>
            </a:avLst>
          </a:prstGeom>
          <a:solidFill>
            <a:srgbClr val="A78BFA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69510" y="3228975"/>
            <a:ext cx="1143000" cy="1143000"/>
          </a:xfrm>
          <a:prstGeom prst="roundRect">
            <a:avLst>
              <a:gd name="adj" fmla="val 79992000"/>
            </a:avLst>
          </a:prstGeom>
          <a:solidFill>
            <a:srgbClr val="06B6D4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335310"/>
            <a:ext cx="2590800" cy="2609850"/>
          </a:xfrm>
          <a:prstGeom prst="roundRect">
            <a:avLst>
              <a:gd name="adj" fmla="val 56471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76600" y="335310"/>
            <a:ext cx="2590800" cy="2609850"/>
          </a:xfrm>
          <a:prstGeom prst="roundRect">
            <a:avLst>
              <a:gd name="adj" fmla="val 56471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0" y="335310"/>
            <a:ext cx="2590800" cy="2609850"/>
          </a:xfrm>
          <a:prstGeom prst="roundRect">
            <a:avLst>
              <a:gd name="adj" fmla="val 56471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3249960"/>
            <a:ext cx="8229600" cy="2571750"/>
          </a:xfrm>
          <a:prstGeom prst="roundRect">
            <a:avLst>
              <a:gd name="adj" fmla="val 56889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5325" y="4135785"/>
            <a:ext cx="7753350" cy="228600"/>
          </a:xfrm>
          <a:prstGeom prst="roundRect">
            <a:avLst>
              <a:gd name="adj" fmla="val 3996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95325" y="4745385"/>
            <a:ext cx="7753350" cy="228600"/>
          </a:xfrm>
          <a:prstGeom prst="roundRect">
            <a:avLst>
              <a:gd name="adj" fmla="val 3996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95325" y="5354985"/>
            <a:ext cx="7753350" cy="228600"/>
          </a:xfrm>
          <a:prstGeom prst="roundRect">
            <a:avLst>
              <a:gd name="adj" fmla="val 3996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" y="-678061"/>
            <a:ext cx="8394192" cy="708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80"/>
              </a:lnSpc>
              <a:buNone/>
            </a:pPr>
            <a:r>
              <a:rPr lang="en-US" sz="3720" b="1" dirty="0">
                <a:solidFill>
                  <a:srgbClr val="F5F7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Security aspects</a:t>
            </a:r>
            <a:endParaRPr lang="en-US" sz="3720" dirty="0"/>
          </a:p>
        </p:txBody>
      </p:sp>
      <p:sp>
        <p:nvSpPr>
          <p:cNvPr id="12" name="Text 10"/>
          <p:cNvSpPr/>
          <p:nvPr/>
        </p:nvSpPr>
        <p:spPr>
          <a:xfrm>
            <a:off x="695325" y="573435"/>
            <a:ext cx="21568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5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🔐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695325" y="1030635"/>
            <a:ext cx="21568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access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95325" y="1373535"/>
            <a:ext cx="21145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6D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Spaces act as logical containers for account configurations, integrations, and access permissions, helping admins constrain what the agent can access and investigate.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14725" y="573435"/>
            <a:ext cx="21568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5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🔗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3514725" y="1030635"/>
            <a:ext cx="21568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integration model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514725" y="1373535"/>
            <a:ext cx="21145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6D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states the service integrates securely with workflows, observability tools, repositories, and CI/CD systems, and can securely connect to private or remote MCP servers for custom tools.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34125" y="573435"/>
            <a:ext cx="21568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5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📣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6334125" y="1030635"/>
            <a:ext cx="21568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Controlled coordination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34125" y="1373535"/>
            <a:ext cx="21145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6D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Investigation findings are pushed through approved channels such as Slack, ServiceNow, PagerDuty, and AWS Support, improving auditability instead of relying on ad hoc chat and manual handoffs.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5325" y="3488085"/>
            <a:ext cx="79084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Practical governance guidance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5325" y="3907185"/>
            <a:ext cx="22928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5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Least-privilege Agent Space design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53400" y="3907185"/>
            <a:ext cx="3011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5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95%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95325" y="4516785"/>
            <a:ext cx="20013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5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tool integrations only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43875" y="4516785"/>
            <a:ext cx="3108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5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95325" y="5126385"/>
            <a:ext cx="25648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5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review for remediation execution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153400" y="5126385"/>
            <a:ext cx="3011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5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46895"/>
            <a:ext cx="2590800" cy="2800350"/>
          </a:xfrm>
          <a:prstGeom prst="roundRect">
            <a:avLst>
              <a:gd name="adj" fmla="val 56471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76600" y="1346895"/>
            <a:ext cx="2590800" cy="2800350"/>
          </a:xfrm>
          <a:prstGeom prst="roundRect">
            <a:avLst>
              <a:gd name="adj" fmla="val 56471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1346895"/>
            <a:ext cx="2590800" cy="2800350"/>
          </a:xfrm>
          <a:prstGeom prst="roundRect">
            <a:avLst>
              <a:gd name="adj" fmla="val 56471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74904" y="310604"/>
            <a:ext cx="8394192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760"/>
              </a:lnSpc>
              <a:buNone/>
            </a:pPr>
            <a:r>
              <a:rPr lang="en-US" sz="3840" b="1" dirty="0">
                <a:solidFill>
                  <a:srgbClr val="F5F7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Adoption approach</a:t>
            </a:r>
            <a:endParaRPr lang="en-US" sz="3840" dirty="0"/>
          </a:p>
        </p:txBody>
      </p:sp>
      <p:sp>
        <p:nvSpPr>
          <p:cNvPr id="6" name="Text 4"/>
          <p:cNvSpPr/>
          <p:nvPr/>
        </p:nvSpPr>
        <p:spPr>
          <a:xfrm>
            <a:off x="713042" y="1623120"/>
            <a:ext cx="207911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700" dirty="0">
                <a:solidFill>
                  <a:srgbClr val="F5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13042" y="2118420"/>
            <a:ext cx="20791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up foundations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3425" y="2499420"/>
            <a:ext cx="20383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6D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Agent Spaces, onboard target accounts, and connect priority observability, code, and ticketing systems.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32442" y="1623120"/>
            <a:ext cx="207911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700" dirty="0">
                <a:solidFill>
                  <a:srgbClr val="F5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3532442" y="2118420"/>
            <a:ext cx="20791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with incidents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52825" y="2499420"/>
            <a:ext cx="20383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6D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on one service or business unit, validate root-cause quality, and integrate alerts with the existing incident workflow.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51842" y="1623120"/>
            <a:ext cx="207911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700" dirty="0">
                <a:solidFill>
                  <a:srgbClr val="F5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351842" y="2118420"/>
            <a:ext cx="20791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prevention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72225" y="2499420"/>
            <a:ext cx="20383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6DC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prevention recommendations and chat-driven reporting to improve resilience, reduce repeat incidents, and track gains over time.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452045"/>
            <a:ext cx="822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A7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fit: platform teams running AWS-centric workloads with multicloud or hybrid telemetry, established observability tooling, and a desire to reduce investigation toil.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2026-04-28T10:08:22Z</dcterms:created>
  <dcterms:modified xsi:type="dcterms:W3CDTF">2026-04-28T10:08:22Z</dcterms:modified>
</cp:coreProperties>
</file>