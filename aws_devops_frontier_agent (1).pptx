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57200" y="3707011"/>
            <a:ext cx="2641550" cy="849511"/>
          </a:xfrm>
          <a:prstGeom prst="roundRect">
            <a:avLst>
              <a:gd name="adj" fmla="val 215277"/>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4" name="Text 1"/>
          <p:cNvSpPr/>
          <p:nvPr/>
        </p:nvSpPr>
        <p:spPr>
          <a:xfrm>
            <a:off x="3251150" y="3707011"/>
            <a:ext cx="2641550" cy="849511"/>
          </a:xfrm>
          <a:prstGeom prst="roundRect">
            <a:avLst>
              <a:gd name="adj" fmla="val 215277"/>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5" name="Text 2"/>
          <p:cNvSpPr/>
          <p:nvPr/>
        </p:nvSpPr>
        <p:spPr>
          <a:xfrm>
            <a:off x="6045101" y="3707011"/>
            <a:ext cx="2641699" cy="849511"/>
          </a:xfrm>
          <a:prstGeom prst="roundRect">
            <a:avLst>
              <a:gd name="adj" fmla="val 215277"/>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pic>
        <p:nvPicPr>
          <p:cNvPr id="6" name="Image 1" descr="https://upload.wikimedia.org/wikipedia/commons/9/93/Amazon_Web_Services_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10633" y="586829"/>
            <a:ext cx="922734" cy="552450"/>
          </a:xfrm>
          <a:prstGeom prst="rect">
            <a:avLst/>
          </a:prstGeom>
        </p:spPr>
      </p:pic>
      <p:sp>
        <p:nvSpPr>
          <p:cNvPr id="7" name="Text 3"/>
          <p:cNvSpPr/>
          <p:nvPr/>
        </p:nvSpPr>
        <p:spPr>
          <a:xfrm>
            <a:off x="374904" y="1329779"/>
            <a:ext cx="8394192" cy="182761"/>
          </a:xfrm>
          <a:prstGeom prst="rect">
            <a:avLst/>
          </a:prstGeom>
          <a:noFill/>
          <a:ln/>
        </p:spPr>
        <p:txBody>
          <a:bodyPr wrap="square" lIns="0" tIns="0" rIns="0" bIns="0" rtlCol="0" anchor="t"/>
          <a:lstStyle/>
          <a:p>
            <a:pPr algn="ct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reference architecture / operations intelligence / frontier agent</a:t>
            </a:r>
            <a:endParaRPr lang="en-US" sz="960" dirty="0"/>
          </a:p>
        </p:txBody>
      </p:sp>
      <p:sp>
        <p:nvSpPr>
          <p:cNvPr id="8" name="Text 4"/>
          <p:cNvSpPr/>
          <p:nvPr/>
        </p:nvSpPr>
        <p:spPr>
          <a:xfrm>
            <a:off x="374904" y="1664940"/>
            <a:ext cx="8394192" cy="1051471"/>
          </a:xfrm>
          <a:prstGeom prst="rect">
            <a:avLst/>
          </a:prstGeom>
          <a:noFill/>
          <a:ln/>
        </p:spPr>
        <p:txBody>
          <a:bodyPr wrap="square" lIns="0" tIns="0" rIns="0" bIns="0" rtlCol="0" anchor="t"/>
          <a:lstStyle/>
          <a:p>
            <a:pPr algn="ctr" indent="0" marL="0">
              <a:lnSpc>
                <a:spcPts val="8280"/>
              </a:lnSpc>
              <a:buNone/>
            </a:pPr>
            <a:r>
              <a:rPr lang="en-US" sz="5520" b="1" dirty="0">
                <a:solidFill>
                  <a:srgbClr val="FFFFFF"/>
                </a:solidFill>
                <a:latin typeface="JetBrains Mono" pitchFamily="34" charset="0"/>
                <a:ea typeface="JetBrains Mono" pitchFamily="34" charset="-122"/>
                <a:cs typeface="JetBrains Mono" pitchFamily="34" charset="-120"/>
              </a:rPr>
              <a:t>AWS DevOps Agent</a:t>
            </a:r>
            <a:endParaRPr lang="en-US" sz="5520" dirty="0"/>
          </a:p>
        </p:txBody>
      </p:sp>
      <p:sp>
        <p:nvSpPr>
          <p:cNvPr id="9" name="Text 5"/>
          <p:cNvSpPr/>
          <p:nvPr/>
        </p:nvSpPr>
        <p:spPr>
          <a:xfrm>
            <a:off x="914400" y="2830711"/>
            <a:ext cx="7315200" cy="571500"/>
          </a:xfrm>
          <a:prstGeom prst="rect">
            <a:avLst/>
          </a:prstGeom>
          <a:noFill/>
          <a:ln/>
        </p:spPr>
        <p:txBody>
          <a:bodyPr wrap="square" lIns="0" tIns="0" rIns="0" bIns="0" rtlCol="0" anchor="t"/>
          <a:lstStyle/>
          <a:p>
            <a:pPr algn="ctr" indent="0" marL="0">
              <a:lnSpc>
                <a:spcPts val="2250"/>
              </a:lnSpc>
              <a:buNone/>
            </a:pPr>
            <a:r>
              <a:rPr lang="en-US" sz="1500" dirty="0">
                <a:solidFill>
                  <a:srgbClr val="B8C4D8"/>
                </a:solidFill>
                <a:latin typeface="Inter" pitchFamily="34" charset="0"/>
                <a:ea typeface="Inter" pitchFamily="34" charset="-122"/>
                <a:cs typeface="Inter" pitchFamily="34" charset="-120"/>
              </a:rPr>
              <a:t>Technical architect view of the service, control boundaries, data paths, integrations, and governance model.</a:t>
            </a:r>
            <a:endParaRPr lang="en-US" sz="1500" dirty="0"/>
          </a:p>
        </p:txBody>
      </p:sp>
      <p:sp>
        <p:nvSpPr>
          <p:cNvPr id="10" name="Text 6"/>
          <p:cNvSpPr/>
          <p:nvPr/>
        </p:nvSpPr>
        <p:spPr>
          <a:xfrm>
            <a:off x="595948" y="3868936"/>
            <a:ext cx="2364054" cy="182761"/>
          </a:xfrm>
          <a:prstGeom prst="rect">
            <a:avLst/>
          </a:prstGeom>
          <a:noFill/>
          <a:ln/>
        </p:spPr>
        <p:txBody>
          <a:bodyPr wrap="square" lIns="0" tIns="0" rIns="0" bIns="0" rtlCol="0" anchor="t"/>
          <a:lstStyle/>
          <a:p>
            <a:pPr algn="ct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focus_01</a:t>
            </a:r>
            <a:endParaRPr lang="en-US" sz="960" dirty="0"/>
          </a:p>
        </p:txBody>
      </p:sp>
      <p:sp>
        <p:nvSpPr>
          <p:cNvPr id="11" name="Text 7"/>
          <p:cNvSpPr/>
          <p:nvPr/>
        </p:nvSpPr>
        <p:spPr>
          <a:xfrm>
            <a:off x="595948" y="4127897"/>
            <a:ext cx="2364054" cy="266700"/>
          </a:xfrm>
          <a:prstGeom prst="rect">
            <a:avLst/>
          </a:prstGeom>
          <a:noFill/>
          <a:ln/>
        </p:spPr>
        <p:txBody>
          <a:bodyPr wrap="square" lIns="0" tIns="0" rIns="0" bIns="0" rtlCol="0" anchor="t"/>
          <a:lstStyle/>
          <a:p>
            <a:pPr algn="ctr" indent="0" marL="0">
              <a:lnSpc>
                <a:spcPts val="2100"/>
              </a:lnSpc>
              <a:buNone/>
            </a:pPr>
            <a:r>
              <a:rPr lang="en-US" sz="1350" b="1" dirty="0">
                <a:solidFill>
                  <a:srgbClr val="FFFFFF"/>
                </a:solidFill>
                <a:latin typeface="Inter" pitchFamily="34" charset="0"/>
                <a:ea typeface="Inter" pitchFamily="34" charset="-122"/>
                <a:cs typeface="Inter" pitchFamily="34" charset="-120"/>
              </a:rPr>
              <a:t>Topology-aware operations</a:t>
            </a:r>
            <a:endParaRPr lang="en-US" sz="1350" dirty="0"/>
          </a:p>
        </p:txBody>
      </p:sp>
      <p:sp>
        <p:nvSpPr>
          <p:cNvPr id="12" name="Text 8"/>
          <p:cNvSpPr/>
          <p:nvPr/>
        </p:nvSpPr>
        <p:spPr>
          <a:xfrm>
            <a:off x="3389898" y="3868936"/>
            <a:ext cx="2364054" cy="182761"/>
          </a:xfrm>
          <a:prstGeom prst="rect">
            <a:avLst/>
          </a:prstGeom>
          <a:noFill/>
          <a:ln/>
        </p:spPr>
        <p:txBody>
          <a:bodyPr wrap="square" lIns="0" tIns="0" rIns="0" bIns="0" rtlCol="0" anchor="t"/>
          <a:lstStyle/>
          <a:p>
            <a:pPr algn="ct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focus_02</a:t>
            </a:r>
            <a:endParaRPr lang="en-US" sz="960" dirty="0"/>
          </a:p>
        </p:txBody>
      </p:sp>
      <p:sp>
        <p:nvSpPr>
          <p:cNvPr id="13" name="Text 9"/>
          <p:cNvSpPr/>
          <p:nvPr/>
        </p:nvSpPr>
        <p:spPr>
          <a:xfrm>
            <a:off x="3389898" y="4127897"/>
            <a:ext cx="2364054" cy="266700"/>
          </a:xfrm>
          <a:prstGeom prst="rect">
            <a:avLst/>
          </a:prstGeom>
          <a:noFill/>
          <a:ln/>
        </p:spPr>
        <p:txBody>
          <a:bodyPr wrap="square" lIns="0" tIns="0" rIns="0" bIns="0" rtlCol="0" anchor="t"/>
          <a:lstStyle/>
          <a:p>
            <a:pPr algn="ctr" indent="0" marL="0">
              <a:lnSpc>
                <a:spcPts val="2100"/>
              </a:lnSpc>
              <a:buNone/>
            </a:pPr>
            <a:r>
              <a:rPr lang="en-US" sz="1350" b="1" dirty="0">
                <a:solidFill>
                  <a:srgbClr val="FFFFFF"/>
                </a:solidFill>
                <a:latin typeface="Inter" pitchFamily="34" charset="0"/>
                <a:ea typeface="Inter" pitchFamily="34" charset="-122"/>
                <a:cs typeface="Inter" pitchFamily="34" charset="-120"/>
              </a:rPr>
              <a:t>Toolchain correlation</a:t>
            </a:r>
            <a:endParaRPr lang="en-US" sz="1350" dirty="0"/>
          </a:p>
        </p:txBody>
      </p:sp>
      <p:sp>
        <p:nvSpPr>
          <p:cNvPr id="14" name="Text 10"/>
          <p:cNvSpPr/>
          <p:nvPr/>
        </p:nvSpPr>
        <p:spPr>
          <a:xfrm>
            <a:off x="6183847" y="3868936"/>
            <a:ext cx="2364206" cy="182761"/>
          </a:xfrm>
          <a:prstGeom prst="rect">
            <a:avLst/>
          </a:prstGeom>
          <a:noFill/>
          <a:ln/>
        </p:spPr>
        <p:txBody>
          <a:bodyPr wrap="square" lIns="0" tIns="0" rIns="0" bIns="0" rtlCol="0" anchor="t"/>
          <a:lstStyle/>
          <a:p>
            <a:pPr algn="ct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focus_03</a:t>
            </a:r>
            <a:endParaRPr lang="en-US" sz="960" dirty="0"/>
          </a:p>
        </p:txBody>
      </p:sp>
      <p:sp>
        <p:nvSpPr>
          <p:cNvPr id="15" name="Text 11"/>
          <p:cNvSpPr/>
          <p:nvPr/>
        </p:nvSpPr>
        <p:spPr>
          <a:xfrm>
            <a:off x="6183847" y="4127897"/>
            <a:ext cx="2364206" cy="266700"/>
          </a:xfrm>
          <a:prstGeom prst="rect">
            <a:avLst/>
          </a:prstGeom>
          <a:noFill/>
          <a:ln/>
        </p:spPr>
        <p:txBody>
          <a:bodyPr wrap="square" lIns="0" tIns="0" rIns="0" bIns="0" rtlCol="0" anchor="t"/>
          <a:lstStyle/>
          <a:p>
            <a:pPr algn="ctr" indent="0" marL="0">
              <a:lnSpc>
                <a:spcPts val="2100"/>
              </a:lnSpc>
              <a:buNone/>
            </a:pPr>
            <a:r>
              <a:rPr lang="en-US" sz="1350" b="1" dirty="0">
                <a:solidFill>
                  <a:srgbClr val="FFFFFF"/>
                </a:solidFill>
                <a:latin typeface="Inter" pitchFamily="34" charset="0"/>
                <a:ea typeface="Inter" pitchFamily="34" charset="-122"/>
                <a:cs typeface="Inter" pitchFamily="34" charset="-120"/>
              </a:rPr>
              <a:t>Scoped agent access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57200" y="1375916"/>
            <a:ext cx="4000500" cy="2305050"/>
          </a:xfrm>
          <a:prstGeom prst="roundRect">
            <a:avLst>
              <a:gd name="adj" fmla="val 79339"/>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4" name="Text 1"/>
          <p:cNvSpPr/>
          <p:nvPr/>
        </p:nvSpPr>
        <p:spPr>
          <a:xfrm>
            <a:off x="4686300" y="1375916"/>
            <a:ext cx="4000500" cy="2305050"/>
          </a:xfrm>
          <a:prstGeom prst="roundRect">
            <a:avLst>
              <a:gd name="adj" fmla="val 79339"/>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5" name="Text 2"/>
          <p:cNvSpPr/>
          <p:nvPr/>
        </p:nvSpPr>
        <p:spPr>
          <a:xfrm>
            <a:off x="457200" y="3909566"/>
            <a:ext cx="8229600" cy="1107579"/>
          </a:xfrm>
          <a:prstGeom prst="roundRect">
            <a:avLst>
              <a:gd name="adj" fmla="val 165117"/>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6" name="Text 3"/>
          <p:cNvSpPr/>
          <p:nvPr/>
        </p:nvSpPr>
        <p:spPr>
          <a:xfrm>
            <a:off x="457200" y="126355"/>
            <a:ext cx="8394192"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service_summary</a:t>
            </a:r>
            <a:endParaRPr lang="en-US" sz="960" dirty="0"/>
          </a:p>
        </p:txBody>
      </p:sp>
      <p:sp>
        <p:nvSpPr>
          <p:cNvPr id="7" name="Text 4"/>
          <p:cNvSpPr/>
          <p:nvPr/>
        </p:nvSpPr>
        <p:spPr>
          <a:xfrm>
            <a:off x="457200" y="385316"/>
            <a:ext cx="8394192" cy="685800"/>
          </a:xfrm>
          <a:prstGeom prst="rect">
            <a:avLst/>
          </a:prstGeom>
          <a:noFill/>
          <a:ln/>
        </p:spPr>
        <p:txBody>
          <a:bodyPr wrap="square" lIns="0" tIns="0" rIns="0" bIns="0" rtlCol="0" anchor="t"/>
          <a:lstStyle/>
          <a:p>
            <a:pPr indent="0" marL="0">
              <a:lnSpc>
                <a:spcPts val="5400"/>
              </a:lnSpc>
              <a:buNone/>
            </a:pPr>
            <a:r>
              <a:rPr lang="en-US" sz="3600" b="1" dirty="0">
                <a:solidFill>
                  <a:srgbClr val="FFFFFF"/>
                </a:solidFill>
                <a:latin typeface="JetBrains Mono" pitchFamily="34" charset="0"/>
                <a:ea typeface="JetBrains Mono" pitchFamily="34" charset="-122"/>
                <a:cs typeface="JetBrains Mono" pitchFamily="34" charset="-120"/>
              </a:rPr>
              <a:t>What the agent does</a:t>
            </a:r>
            <a:endParaRPr lang="en-US" sz="3600" dirty="0"/>
          </a:p>
        </p:txBody>
      </p:sp>
      <p:sp>
        <p:nvSpPr>
          <p:cNvPr id="8" name="Text 5"/>
          <p:cNvSpPr/>
          <p:nvPr/>
        </p:nvSpPr>
        <p:spPr>
          <a:xfrm>
            <a:off x="733425" y="1652141"/>
            <a:ext cx="3517011" cy="266700"/>
          </a:xfrm>
          <a:prstGeom prst="rect">
            <a:avLst/>
          </a:prstGeom>
          <a:noFill/>
          <a:ln/>
        </p:spPr>
        <p:txBody>
          <a:bodyPr wrap="square" lIns="0" tIns="0" rIns="0" bIns="0" rtlCol="0" anchor="t"/>
          <a:lstStyle/>
          <a:p>
            <a:pPr indent="0" marL="0">
              <a:lnSpc>
                <a:spcPts val="2100"/>
              </a:lnSpc>
              <a:buNone/>
            </a:pPr>
            <a:r>
              <a:rPr lang="en-US" sz="1500" b="1" dirty="0">
                <a:solidFill>
                  <a:srgbClr val="FFFFFF"/>
                </a:solidFill>
                <a:latin typeface="Inter" pitchFamily="34" charset="0"/>
                <a:ea typeface="Inter" pitchFamily="34" charset="-122"/>
                <a:cs typeface="Inter" pitchFamily="34" charset="-120"/>
              </a:rPr>
              <a:t>Operational role</a:t>
            </a:r>
            <a:endParaRPr lang="en-US" sz="1500" dirty="0"/>
          </a:p>
        </p:txBody>
      </p:sp>
      <p:sp>
        <p:nvSpPr>
          <p:cNvPr id="9" name="Text 6"/>
          <p:cNvSpPr/>
          <p:nvPr/>
        </p:nvSpPr>
        <p:spPr>
          <a:xfrm>
            <a:off x="733425" y="2033141"/>
            <a:ext cx="3448050" cy="1371600"/>
          </a:xfrm>
          <a:prstGeom prst="rect">
            <a:avLst/>
          </a:prstGeom>
          <a:noFill/>
          <a:ln/>
        </p:spPr>
        <p:txBody>
          <a:bodyPr wrap="square" lIns="0" tIns="0" rIns="0" bIns="0" rtlCol="0" anchor="t"/>
          <a:lstStyle/>
          <a:p>
            <a:pPr indent="0" marL="0">
              <a:lnSpc>
                <a:spcPts val="1800"/>
              </a:lnSpc>
              <a:buNone/>
            </a:pPr>
            <a:r>
              <a:rPr lang="en-US" sz="1200" dirty="0">
                <a:solidFill>
                  <a:srgbClr val="B8C4D8"/>
                </a:solidFill>
                <a:latin typeface="Inter" pitchFamily="34" charset="0"/>
                <a:ea typeface="Inter" pitchFamily="34" charset="-122"/>
                <a:cs typeface="Inter" pitchFamily="34" charset="-120"/>
              </a:rPr>
              <a:t>AWS DevOps Agent investigates incidents, builds application topology, correlates telemetry with code and deployment information, and recommends preventive improvements across infrastructure, pipelines, observability, and code paths.</a:t>
            </a:r>
            <a:endParaRPr lang="en-US" sz="1200" dirty="0"/>
          </a:p>
        </p:txBody>
      </p:sp>
      <p:sp>
        <p:nvSpPr>
          <p:cNvPr id="10" name="Text 7"/>
          <p:cNvSpPr/>
          <p:nvPr/>
        </p:nvSpPr>
        <p:spPr>
          <a:xfrm>
            <a:off x="4962525" y="1652141"/>
            <a:ext cx="3517011" cy="266700"/>
          </a:xfrm>
          <a:prstGeom prst="rect">
            <a:avLst/>
          </a:prstGeom>
          <a:noFill/>
          <a:ln/>
        </p:spPr>
        <p:txBody>
          <a:bodyPr wrap="square" lIns="0" tIns="0" rIns="0" bIns="0" rtlCol="0" anchor="t"/>
          <a:lstStyle/>
          <a:p>
            <a:pPr indent="0" marL="0">
              <a:lnSpc>
                <a:spcPts val="2100"/>
              </a:lnSpc>
              <a:buNone/>
            </a:pPr>
            <a:r>
              <a:rPr lang="en-US" sz="1500" b="1" dirty="0">
                <a:solidFill>
                  <a:srgbClr val="FFFFFF"/>
                </a:solidFill>
                <a:latin typeface="Inter" pitchFamily="34" charset="0"/>
                <a:ea typeface="Inter" pitchFamily="34" charset="-122"/>
                <a:cs typeface="Inter" pitchFamily="34" charset="-120"/>
              </a:rPr>
              <a:t>Interaction model</a:t>
            </a:r>
            <a:endParaRPr lang="en-US" sz="1500" dirty="0"/>
          </a:p>
        </p:txBody>
      </p:sp>
      <p:sp>
        <p:nvSpPr>
          <p:cNvPr id="11" name="Text 8"/>
          <p:cNvSpPr/>
          <p:nvPr/>
        </p:nvSpPr>
        <p:spPr>
          <a:xfrm>
            <a:off x="4962525" y="2033141"/>
            <a:ext cx="3448050" cy="1371600"/>
          </a:xfrm>
          <a:prstGeom prst="rect">
            <a:avLst/>
          </a:prstGeom>
          <a:noFill/>
          <a:ln/>
        </p:spPr>
        <p:txBody>
          <a:bodyPr wrap="square" lIns="0" tIns="0" rIns="0" bIns="0" rtlCol="0" anchor="t"/>
          <a:lstStyle/>
          <a:p>
            <a:pPr indent="0" marL="0">
              <a:lnSpc>
                <a:spcPts val="1800"/>
              </a:lnSpc>
              <a:buNone/>
            </a:pPr>
            <a:r>
              <a:rPr lang="en-US" sz="1200" dirty="0">
                <a:solidFill>
                  <a:srgbClr val="B8C4D8"/>
                </a:solidFill>
                <a:latin typeface="Inter" pitchFamily="34" charset="0"/>
                <a:ea typeface="Inter" pitchFamily="34" charset="-122"/>
                <a:cs typeface="Inter" pitchFamily="34" charset="-120"/>
              </a:rPr>
              <a:t>Administrators configure Agent Spaces and integrations in AWS Management Console, while operations teams use the DevOps Agent web app for incident analysis, topology inspection, chat-driven queries, and prevention workflows.</a:t>
            </a:r>
            <a:endParaRPr lang="en-US" sz="1200" dirty="0"/>
          </a:p>
        </p:txBody>
      </p:sp>
      <p:sp>
        <p:nvSpPr>
          <p:cNvPr id="12" name="Text 9"/>
          <p:cNvSpPr/>
          <p:nvPr/>
        </p:nvSpPr>
        <p:spPr>
          <a:xfrm>
            <a:off x="695325" y="4147691"/>
            <a:ext cx="1860518" cy="174129"/>
          </a:xfrm>
          <a:prstGeom prst="rect">
            <a:avLst/>
          </a:prstGeom>
          <a:noFill/>
          <a:ln/>
        </p:spPr>
        <p:txBody>
          <a:bodyPr wrap="square" lIns="0" tIns="0" rIns="0" bIns="0" rtlCol="0" anchor="t"/>
          <a:lstStyle/>
          <a:p>
            <a:pPr indent="0" marL="0">
              <a:lnSpc>
                <a:spcPts val="1371"/>
              </a:lnSpc>
              <a:buNone/>
            </a:pPr>
            <a:r>
              <a:rPr lang="en-US" sz="960" dirty="0">
                <a:solidFill>
                  <a:srgbClr val="93C5FD"/>
                </a:solidFill>
                <a:latin typeface="JetBrains Mono" pitchFamily="34" charset="0"/>
                <a:ea typeface="JetBrains Mono" pitchFamily="34" charset="-122"/>
                <a:cs typeface="JetBrains Mono" pitchFamily="34" charset="-120"/>
              </a:rPr>
              <a:t>scope</a:t>
            </a:r>
            <a:endParaRPr lang="en-US" sz="960" dirty="0"/>
          </a:p>
        </p:txBody>
      </p:sp>
      <p:sp>
        <p:nvSpPr>
          <p:cNvPr id="13" name="Text 10"/>
          <p:cNvSpPr/>
          <p:nvPr/>
        </p:nvSpPr>
        <p:spPr>
          <a:xfrm>
            <a:off x="695325" y="4398020"/>
            <a:ext cx="1824038" cy="381000"/>
          </a:xfrm>
          <a:prstGeom prst="rect">
            <a:avLst/>
          </a:prstGeom>
          <a:noFill/>
          <a:ln/>
        </p:spPr>
        <p:txBody>
          <a:bodyPr wrap="square" lIns="0" tIns="0" rIns="0" bIns="0" rtlCol="0" anchor="t"/>
          <a:lstStyle/>
          <a:p>
            <a:pPr indent="0" marL="0">
              <a:lnSpc>
                <a:spcPts val="1500"/>
              </a:lnSpc>
              <a:buNone/>
            </a:pPr>
            <a:r>
              <a:rPr lang="en-US" sz="1050" dirty="0">
                <a:solidFill>
                  <a:srgbClr val="FFFFFF"/>
                </a:solidFill>
                <a:latin typeface="Inter" pitchFamily="34" charset="0"/>
                <a:ea typeface="Inter" pitchFamily="34" charset="-122"/>
                <a:cs typeface="Inter" pitchFamily="34" charset="-120"/>
              </a:rPr>
              <a:t>AWS, multicloud, and hybrid environments</a:t>
            </a:r>
            <a:endParaRPr lang="en-US" sz="1050" dirty="0"/>
          </a:p>
        </p:txBody>
      </p:sp>
      <p:sp>
        <p:nvSpPr>
          <p:cNvPr id="14" name="Text 11"/>
          <p:cNvSpPr/>
          <p:nvPr/>
        </p:nvSpPr>
        <p:spPr>
          <a:xfrm>
            <a:off x="2671763" y="4147691"/>
            <a:ext cx="1860518" cy="174129"/>
          </a:xfrm>
          <a:prstGeom prst="rect">
            <a:avLst/>
          </a:prstGeom>
          <a:noFill/>
          <a:ln/>
        </p:spPr>
        <p:txBody>
          <a:bodyPr wrap="square" lIns="0" tIns="0" rIns="0" bIns="0" rtlCol="0" anchor="t"/>
          <a:lstStyle/>
          <a:p>
            <a:pPr indent="0" marL="0">
              <a:lnSpc>
                <a:spcPts val="1371"/>
              </a:lnSpc>
              <a:buNone/>
            </a:pPr>
            <a:r>
              <a:rPr lang="en-US" sz="960" dirty="0">
                <a:solidFill>
                  <a:srgbClr val="93C5FD"/>
                </a:solidFill>
                <a:latin typeface="JetBrains Mono" pitchFamily="34" charset="0"/>
                <a:ea typeface="JetBrains Mono" pitchFamily="34" charset="-122"/>
                <a:cs typeface="JetBrains Mono" pitchFamily="34" charset="-120"/>
              </a:rPr>
              <a:t>inputs</a:t>
            </a:r>
            <a:endParaRPr lang="en-US" sz="960" dirty="0"/>
          </a:p>
        </p:txBody>
      </p:sp>
      <p:sp>
        <p:nvSpPr>
          <p:cNvPr id="15" name="Text 12"/>
          <p:cNvSpPr/>
          <p:nvPr/>
        </p:nvSpPr>
        <p:spPr>
          <a:xfrm>
            <a:off x="2671763" y="4398020"/>
            <a:ext cx="1824038" cy="381000"/>
          </a:xfrm>
          <a:prstGeom prst="rect">
            <a:avLst/>
          </a:prstGeom>
          <a:noFill/>
          <a:ln/>
        </p:spPr>
        <p:txBody>
          <a:bodyPr wrap="square" lIns="0" tIns="0" rIns="0" bIns="0" rtlCol="0" anchor="t"/>
          <a:lstStyle/>
          <a:p>
            <a:pPr indent="0" marL="0">
              <a:lnSpc>
                <a:spcPts val="1500"/>
              </a:lnSpc>
              <a:buNone/>
            </a:pPr>
            <a:r>
              <a:rPr lang="en-US" sz="1050" dirty="0">
                <a:solidFill>
                  <a:srgbClr val="FFFFFF"/>
                </a:solidFill>
                <a:latin typeface="Inter" pitchFamily="34" charset="0"/>
                <a:ea typeface="Inter" pitchFamily="34" charset="-122"/>
                <a:cs typeface="Inter" pitchFamily="34" charset="-120"/>
              </a:rPr>
              <a:t>Metrics, logs, events, code, CI/CD, tickets</a:t>
            </a:r>
            <a:endParaRPr lang="en-US" sz="1050" dirty="0"/>
          </a:p>
        </p:txBody>
      </p:sp>
      <p:sp>
        <p:nvSpPr>
          <p:cNvPr id="16" name="Text 13"/>
          <p:cNvSpPr/>
          <p:nvPr/>
        </p:nvSpPr>
        <p:spPr>
          <a:xfrm>
            <a:off x="4648200" y="4147691"/>
            <a:ext cx="1860518" cy="174129"/>
          </a:xfrm>
          <a:prstGeom prst="rect">
            <a:avLst/>
          </a:prstGeom>
          <a:noFill/>
          <a:ln/>
        </p:spPr>
        <p:txBody>
          <a:bodyPr wrap="square" lIns="0" tIns="0" rIns="0" bIns="0" rtlCol="0" anchor="t"/>
          <a:lstStyle/>
          <a:p>
            <a:pPr indent="0" marL="0">
              <a:lnSpc>
                <a:spcPts val="1371"/>
              </a:lnSpc>
              <a:buNone/>
            </a:pPr>
            <a:r>
              <a:rPr lang="en-US" sz="960" dirty="0">
                <a:solidFill>
                  <a:srgbClr val="93C5FD"/>
                </a:solidFill>
                <a:latin typeface="JetBrains Mono" pitchFamily="34" charset="0"/>
                <a:ea typeface="JetBrains Mono" pitchFamily="34" charset="-122"/>
                <a:cs typeface="JetBrains Mono" pitchFamily="34" charset="-120"/>
              </a:rPr>
              <a:t>outputs</a:t>
            </a:r>
            <a:endParaRPr lang="en-US" sz="960" dirty="0"/>
          </a:p>
        </p:txBody>
      </p:sp>
      <p:sp>
        <p:nvSpPr>
          <p:cNvPr id="17" name="Text 14"/>
          <p:cNvSpPr/>
          <p:nvPr/>
        </p:nvSpPr>
        <p:spPr>
          <a:xfrm>
            <a:off x="4648200" y="4398020"/>
            <a:ext cx="1824038" cy="381000"/>
          </a:xfrm>
          <a:prstGeom prst="rect">
            <a:avLst/>
          </a:prstGeom>
          <a:noFill/>
          <a:ln/>
        </p:spPr>
        <p:txBody>
          <a:bodyPr wrap="square" lIns="0" tIns="0" rIns="0" bIns="0" rtlCol="0" anchor="t"/>
          <a:lstStyle/>
          <a:p>
            <a:pPr indent="0" marL="0">
              <a:lnSpc>
                <a:spcPts val="1500"/>
              </a:lnSpc>
              <a:buNone/>
            </a:pPr>
            <a:r>
              <a:rPr lang="en-US" sz="1050" dirty="0">
                <a:solidFill>
                  <a:srgbClr val="FFFFFF"/>
                </a:solidFill>
                <a:latin typeface="Inter" pitchFamily="34" charset="0"/>
                <a:ea typeface="Inter" pitchFamily="34" charset="-122"/>
                <a:cs typeface="Inter" pitchFamily="34" charset="-120"/>
              </a:rPr>
              <a:t>Investigations, hypotheses, reports, recommendations</a:t>
            </a:r>
            <a:endParaRPr lang="en-US" sz="1050" dirty="0"/>
          </a:p>
        </p:txBody>
      </p:sp>
      <p:sp>
        <p:nvSpPr>
          <p:cNvPr id="18" name="Text 15"/>
          <p:cNvSpPr/>
          <p:nvPr/>
        </p:nvSpPr>
        <p:spPr>
          <a:xfrm>
            <a:off x="6624638" y="4147691"/>
            <a:ext cx="1860518" cy="174129"/>
          </a:xfrm>
          <a:prstGeom prst="rect">
            <a:avLst/>
          </a:prstGeom>
          <a:noFill/>
          <a:ln/>
        </p:spPr>
        <p:txBody>
          <a:bodyPr wrap="square" lIns="0" tIns="0" rIns="0" bIns="0" rtlCol="0" anchor="t"/>
          <a:lstStyle/>
          <a:p>
            <a:pPr indent="0" marL="0">
              <a:lnSpc>
                <a:spcPts val="1371"/>
              </a:lnSpc>
              <a:buNone/>
            </a:pPr>
            <a:r>
              <a:rPr lang="en-US" sz="960" dirty="0">
                <a:solidFill>
                  <a:srgbClr val="93C5FD"/>
                </a:solidFill>
                <a:latin typeface="JetBrains Mono" pitchFamily="34" charset="0"/>
                <a:ea typeface="JetBrains Mono" pitchFamily="34" charset="-122"/>
                <a:cs typeface="JetBrains Mono" pitchFamily="34" charset="-120"/>
              </a:rPr>
              <a:t>operator_view</a:t>
            </a:r>
            <a:endParaRPr lang="en-US" sz="960" dirty="0"/>
          </a:p>
        </p:txBody>
      </p:sp>
      <p:sp>
        <p:nvSpPr>
          <p:cNvPr id="19" name="Text 16"/>
          <p:cNvSpPr/>
          <p:nvPr/>
        </p:nvSpPr>
        <p:spPr>
          <a:xfrm>
            <a:off x="6624638" y="4398020"/>
            <a:ext cx="1824038" cy="381000"/>
          </a:xfrm>
          <a:prstGeom prst="rect">
            <a:avLst/>
          </a:prstGeom>
          <a:noFill/>
          <a:ln/>
        </p:spPr>
        <p:txBody>
          <a:bodyPr wrap="square" lIns="0" tIns="0" rIns="0" bIns="0" rtlCol="0" anchor="t"/>
          <a:lstStyle/>
          <a:p>
            <a:pPr indent="0" marL="0">
              <a:lnSpc>
                <a:spcPts val="1500"/>
              </a:lnSpc>
              <a:buNone/>
            </a:pPr>
            <a:r>
              <a:rPr lang="en-US" sz="1050" dirty="0">
                <a:solidFill>
                  <a:srgbClr val="FFFFFF"/>
                </a:solidFill>
                <a:latin typeface="Inter" pitchFamily="34" charset="0"/>
                <a:ea typeface="Inter" pitchFamily="34" charset="-122"/>
                <a:cs typeface="Inter" pitchFamily="34" charset="-120"/>
              </a:rPr>
              <a:t>Chat, topology, prevention, history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57200" y="737295"/>
            <a:ext cx="8229600" cy="2887861"/>
          </a:xfrm>
          <a:prstGeom prst="roundRect">
            <a:avLst>
              <a:gd name="adj" fmla="val 63327"/>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4" name="Text 1"/>
          <p:cNvSpPr/>
          <p:nvPr/>
        </p:nvSpPr>
        <p:spPr>
          <a:xfrm>
            <a:off x="695325" y="1318320"/>
            <a:ext cx="1269355" cy="1725811"/>
          </a:xfrm>
          <a:prstGeom prst="roundRect">
            <a:avLst>
              <a:gd name="adj" fmla="val 115259"/>
            </a:avLst>
          </a:prstGeom>
          <a:solidFill>
            <a:srgbClr val="0F172A">
              <a:alpha val="78000"/>
            </a:srgbClr>
          </a:solidFill>
          <a:ln w="9525">
            <a:solidFill>
              <a:srgbClr val="94A3B8"/>
            </a:solidFill>
          </a:ln>
        </p:spPr>
        <p:txBody>
          <a:bodyPr wrap="none" lIns="0" tIns="0" rIns="0" bIns="0" rtlCol="0" anchor="ctr">
            <a:normAutofit/>
          </a:bodyPr>
          <a:lstStyle/>
          <a:p>
            <a:pPr indent="0" marL="0">
              <a:buNone/>
            </a:pPr>
            <a:endParaRPr lang="en-US" dirty="0"/>
          </a:p>
        </p:txBody>
      </p:sp>
      <p:pic>
        <p:nvPicPr>
          <p:cNvPr id="5" name="Image 1" descr="preencoded.png">    </p:cNvPr>
          <p:cNvPicPr>
            <a:picLocks noChangeAspect="1"/>
          </p:cNvPicPr>
          <p:nvPr/>
        </p:nvPicPr>
        <p:blipFill>
          <a:blip r:embed="rId2"/>
          <a:stretch>
            <a:fillRect/>
          </a:stretch>
        </p:blipFill>
        <p:spPr>
          <a:xfrm>
            <a:off x="2078980" y="2171700"/>
            <a:ext cx="1143000" cy="19050"/>
          </a:xfrm>
          <a:prstGeom prst="rect">
            <a:avLst/>
          </a:prstGeom>
        </p:spPr>
      </p:pic>
      <p:sp>
        <p:nvSpPr>
          <p:cNvPr id="6" name="Text 2"/>
          <p:cNvSpPr/>
          <p:nvPr/>
        </p:nvSpPr>
        <p:spPr>
          <a:xfrm>
            <a:off x="3336280" y="975420"/>
            <a:ext cx="1200150" cy="2411611"/>
          </a:xfrm>
          <a:prstGeom prst="roundRect">
            <a:avLst>
              <a:gd name="adj" fmla="val 121905"/>
            </a:avLst>
          </a:prstGeom>
          <a:solidFill>
            <a:srgbClr val="0F172A">
              <a:alpha val="78000"/>
            </a:srgbClr>
          </a:solidFill>
          <a:ln w="9525">
            <a:solidFill>
              <a:srgbClr val="94A3B8"/>
            </a:solidFill>
          </a:ln>
        </p:spPr>
        <p:txBody>
          <a:bodyPr wrap="none" lIns="0" tIns="0" rIns="0" bIns="0" rtlCol="0" anchor="ctr">
            <a:normAutofit/>
          </a:bodyPr>
          <a:lstStyle/>
          <a:p>
            <a:pPr indent="0" marL="0">
              <a:buNone/>
            </a:pPr>
            <a:endParaRPr lang="en-US" dirty="0"/>
          </a:p>
        </p:txBody>
      </p:sp>
      <p:pic>
        <p:nvPicPr>
          <p:cNvPr id="7" name="Image 2" descr="preencoded.png">    </p:cNvPr>
          <p:cNvPicPr>
            <a:picLocks noChangeAspect="1"/>
          </p:cNvPicPr>
          <p:nvPr/>
        </p:nvPicPr>
        <p:blipFill>
          <a:blip r:embed="rId3"/>
          <a:stretch>
            <a:fillRect/>
          </a:stretch>
        </p:blipFill>
        <p:spPr>
          <a:xfrm>
            <a:off x="4650730" y="2171700"/>
            <a:ext cx="1143000" cy="19050"/>
          </a:xfrm>
          <a:prstGeom prst="rect">
            <a:avLst/>
          </a:prstGeom>
        </p:spPr>
      </p:pic>
      <p:sp>
        <p:nvSpPr>
          <p:cNvPr id="8" name="Text 3"/>
          <p:cNvSpPr/>
          <p:nvPr/>
        </p:nvSpPr>
        <p:spPr>
          <a:xfrm>
            <a:off x="5908030" y="1204020"/>
            <a:ext cx="1527274" cy="1954411"/>
          </a:xfrm>
          <a:prstGeom prst="roundRect">
            <a:avLst>
              <a:gd name="adj" fmla="val 95794"/>
            </a:avLst>
          </a:prstGeom>
          <a:solidFill>
            <a:srgbClr val="0F172A">
              <a:alpha val="78000"/>
            </a:srgbClr>
          </a:solidFill>
          <a:ln w="9525">
            <a:solidFill>
              <a:srgbClr val="94A3B8"/>
            </a:solidFill>
          </a:ln>
        </p:spPr>
        <p:txBody>
          <a:bodyPr wrap="none" lIns="0" tIns="0" rIns="0" bIns="0" rtlCol="0" anchor="ctr">
            <a:normAutofit/>
          </a:bodyPr>
          <a:lstStyle/>
          <a:p>
            <a:pPr indent="0" marL="0">
              <a:buNone/>
            </a:pPr>
            <a:endParaRPr lang="en-US" dirty="0"/>
          </a:p>
        </p:txBody>
      </p:sp>
      <p:pic>
        <p:nvPicPr>
          <p:cNvPr id="9" name="Image 3" descr="preencoded.png">    </p:cNvPr>
          <p:cNvPicPr>
            <a:picLocks noChangeAspect="1"/>
          </p:cNvPicPr>
          <p:nvPr/>
        </p:nvPicPr>
        <p:blipFill>
          <a:blip r:embed="rId4"/>
          <a:stretch>
            <a:fillRect/>
          </a:stretch>
        </p:blipFill>
        <p:spPr>
          <a:xfrm>
            <a:off x="7549604" y="2171700"/>
            <a:ext cx="1143000" cy="19050"/>
          </a:xfrm>
          <a:prstGeom prst="rect">
            <a:avLst/>
          </a:prstGeom>
        </p:spPr>
      </p:pic>
      <p:sp>
        <p:nvSpPr>
          <p:cNvPr id="10" name="Text 4"/>
          <p:cNvSpPr/>
          <p:nvPr/>
        </p:nvSpPr>
        <p:spPr>
          <a:xfrm>
            <a:off x="8806904" y="1318320"/>
            <a:ext cx="1657350" cy="1725811"/>
          </a:xfrm>
          <a:prstGeom prst="roundRect">
            <a:avLst>
              <a:gd name="adj" fmla="val 88276"/>
            </a:avLst>
          </a:prstGeom>
          <a:solidFill>
            <a:srgbClr val="0F172A">
              <a:alpha val="78000"/>
            </a:srgbClr>
          </a:solidFill>
          <a:ln w="9525">
            <a:solidFill>
              <a:srgbClr val="94A3B8"/>
            </a:solidFill>
          </a:ln>
        </p:spPr>
        <p:txBody>
          <a:bodyPr wrap="none" lIns="0" tIns="0" rIns="0" bIns="0" rtlCol="0" anchor="ctr">
            <a:normAutofit/>
          </a:bodyPr>
          <a:lstStyle/>
          <a:p>
            <a:pPr indent="0" marL="0">
              <a:buNone/>
            </a:pPr>
            <a:endParaRPr lang="en-US" dirty="0"/>
          </a:p>
        </p:txBody>
      </p:sp>
      <p:sp>
        <p:nvSpPr>
          <p:cNvPr id="11" name="Text 5"/>
          <p:cNvSpPr/>
          <p:nvPr/>
        </p:nvSpPr>
        <p:spPr>
          <a:xfrm>
            <a:off x="457200" y="3853755"/>
            <a:ext cx="2616101" cy="1802011"/>
          </a:xfrm>
          <a:prstGeom prst="roundRect">
            <a:avLst>
              <a:gd name="adj" fmla="val 101487"/>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12" name="Text 6"/>
          <p:cNvSpPr/>
          <p:nvPr/>
        </p:nvSpPr>
        <p:spPr>
          <a:xfrm>
            <a:off x="3263801" y="3853755"/>
            <a:ext cx="2616250" cy="1802011"/>
          </a:xfrm>
          <a:prstGeom prst="roundRect">
            <a:avLst>
              <a:gd name="adj" fmla="val 101487"/>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13" name="Text 7"/>
          <p:cNvSpPr/>
          <p:nvPr/>
        </p:nvSpPr>
        <p:spPr>
          <a:xfrm>
            <a:off x="6070550" y="3853755"/>
            <a:ext cx="2616101" cy="1802011"/>
          </a:xfrm>
          <a:prstGeom prst="roundRect">
            <a:avLst>
              <a:gd name="adj" fmla="val 101487"/>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14" name="Text 8"/>
          <p:cNvSpPr/>
          <p:nvPr/>
        </p:nvSpPr>
        <p:spPr>
          <a:xfrm>
            <a:off x="457200" y="-512266"/>
            <a:ext cx="8394192"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logical_architecture</a:t>
            </a:r>
            <a:endParaRPr lang="en-US" sz="960" dirty="0"/>
          </a:p>
        </p:txBody>
      </p:sp>
      <p:sp>
        <p:nvSpPr>
          <p:cNvPr id="15" name="Text 9"/>
          <p:cNvSpPr/>
          <p:nvPr/>
        </p:nvSpPr>
        <p:spPr>
          <a:xfrm>
            <a:off x="457200" y="-253305"/>
            <a:ext cx="8394192" cy="685800"/>
          </a:xfrm>
          <a:prstGeom prst="rect">
            <a:avLst/>
          </a:prstGeom>
          <a:noFill/>
          <a:ln/>
        </p:spPr>
        <p:txBody>
          <a:bodyPr wrap="square" lIns="0" tIns="0" rIns="0" bIns="0" rtlCol="0" anchor="t"/>
          <a:lstStyle/>
          <a:p>
            <a:pPr indent="0" marL="0">
              <a:lnSpc>
                <a:spcPts val="5400"/>
              </a:lnSpc>
              <a:buNone/>
            </a:pPr>
            <a:r>
              <a:rPr lang="en-US" sz="3600" b="1" dirty="0">
                <a:solidFill>
                  <a:srgbClr val="FFFFFF"/>
                </a:solidFill>
                <a:latin typeface="JetBrains Mono" pitchFamily="34" charset="0"/>
                <a:ea typeface="JetBrains Mono" pitchFamily="34" charset="-122"/>
                <a:cs typeface="JetBrains Mono" pitchFamily="34" charset="-120"/>
              </a:rPr>
              <a:t>How the architecture flows</a:t>
            </a:r>
            <a:endParaRPr lang="en-US" sz="3600" dirty="0"/>
          </a:p>
        </p:txBody>
      </p:sp>
      <p:sp>
        <p:nvSpPr>
          <p:cNvPr id="16" name="Text 10"/>
          <p:cNvSpPr/>
          <p:nvPr/>
        </p:nvSpPr>
        <p:spPr>
          <a:xfrm>
            <a:off x="847795" y="1480245"/>
            <a:ext cx="964415" cy="182761"/>
          </a:xfrm>
          <a:prstGeom prst="rect">
            <a:avLst/>
          </a:prstGeom>
          <a:noFill/>
          <a:ln/>
        </p:spPr>
        <p:txBody>
          <a:bodyPr wrap="square" lIns="0" tIns="0" rIns="0" bIns="0" rtlCol="0" anchor="t"/>
          <a:lstStyle/>
          <a:p>
            <a:pPr algn="ct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01_workload</a:t>
            </a:r>
            <a:endParaRPr lang="en-US" sz="960" dirty="0"/>
          </a:p>
        </p:txBody>
      </p:sp>
      <p:sp>
        <p:nvSpPr>
          <p:cNvPr id="17" name="Text 11"/>
          <p:cNvSpPr/>
          <p:nvPr/>
        </p:nvSpPr>
        <p:spPr>
          <a:xfrm>
            <a:off x="857250" y="1739205"/>
            <a:ext cx="945505" cy="1143000"/>
          </a:xfrm>
          <a:prstGeom prst="rect">
            <a:avLst/>
          </a:prstGeom>
          <a:noFill/>
          <a:ln/>
        </p:spPr>
        <p:txBody>
          <a:bodyPr wrap="square" lIns="0" tIns="0" rIns="0" bIns="0" rtlCol="0" anchor="t"/>
          <a:lstStyle/>
          <a:p>
            <a:pPr algn="ctr" indent="0" marL="0">
              <a:lnSpc>
                <a:spcPts val="1800"/>
              </a:lnSpc>
              <a:buNone/>
            </a:pPr>
            <a:r>
              <a:rPr lang="en-US" sz="1200" dirty="0">
                <a:solidFill>
                  <a:srgbClr val="FFFFFF"/>
                </a:solidFill>
                <a:latin typeface="Inter" pitchFamily="34" charset="0"/>
                <a:ea typeface="Inter" pitchFamily="34" charset="-122"/>
                <a:cs typeface="Inter" pitchFamily="34" charset="-120"/>
              </a:rPr>
              <a:t>AWS services</a:t>
            </a:r>
            <a:endParaRPr lang="en-US" sz="1200" dirty="0"/>
          </a:p>
          <a:p>
            <a:pPr algn="ctr" indent="0" marL="0">
              <a:lnSpc>
                <a:spcPts val="1800"/>
              </a:lnSpc>
              <a:buNone/>
            </a:pPr>
            <a:r>
              <a:rPr lang="en-US" sz="1200" dirty="0">
                <a:solidFill>
                  <a:srgbClr val="FFFFFF"/>
                </a:solidFill>
                <a:latin typeface="Inter" pitchFamily="34" charset="0"/>
                <a:ea typeface="Inter" pitchFamily="34" charset="-122"/>
                <a:cs typeface="Inter" pitchFamily="34" charset="-120"/>
              </a:rPr>
              <a:t>EC2 / EKS / Lambda / RDS / ALB</a:t>
            </a:r>
            <a:endParaRPr lang="en-US" sz="1200" dirty="0"/>
          </a:p>
        </p:txBody>
      </p:sp>
      <p:sp>
        <p:nvSpPr>
          <p:cNvPr id="18" name="Text 12"/>
          <p:cNvSpPr/>
          <p:nvPr/>
        </p:nvSpPr>
        <p:spPr>
          <a:xfrm>
            <a:off x="3489442" y="1137345"/>
            <a:ext cx="893826" cy="182761"/>
          </a:xfrm>
          <a:prstGeom prst="rect">
            <a:avLst/>
          </a:prstGeom>
          <a:noFill/>
          <a:ln/>
        </p:spPr>
        <p:txBody>
          <a:bodyPr wrap="square" lIns="0" tIns="0" rIns="0" bIns="0" rtlCol="0" anchor="t"/>
          <a:lstStyle/>
          <a:p>
            <a:pPr algn="ct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02_signals</a:t>
            </a:r>
            <a:endParaRPr lang="en-US" sz="960" dirty="0"/>
          </a:p>
        </p:txBody>
      </p:sp>
      <p:sp>
        <p:nvSpPr>
          <p:cNvPr id="19" name="Text 13"/>
          <p:cNvSpPr/>
          <p:nvPr/>
        </p:nvSpPr>
        <p:spPr>
          <a:xfrm>
            <a:off x="3498205" y="1396305"/>
            <a:ext cx="876300" cy="1828800"/>
          </a:xfrm>
          <a:prstGeom prst="rect">
            <a:avLst/>
          </a:prstGeom>
          <a:noFill/>
          <a:ln/>
        </p:spPr>
        <p:txBody>
          <a:bodyPr wrap="square" lIns="0" tIns="0" rIns="0" bIns="0" rtlCol="0" anchor="t"/>
          <a:lstStyle/>
          <a:p>
            <a:pPr algn="ctr" indent="0" marL="0">
              <a:lnSpc>
                <a:spcPts val="1800"/>
              </a:lnSpc>
              <a:buNone/>
            </a:pPr>
            <a:r>
              <a:rPr lang="en-US" sz="1200" dirty="0">
                <a:solidFill>
                  <a:srgbClr val="FFFFFF"/>
                </a:solidFill>
                <a:latin typeface="Inter" pitchFamily="34" charset="0"/>
                <a:ea typeface="Inter" pitchFamily="34" charset="-122"/>
                <a:cs typeface="Inter" pitchFamily="34" charset="-120"/>
              </a:rPr>
              <a:t>CloudWatch + third-party telemetry</a:t>
            </a:r>
            <a:endParaRPr lang="en-US" sz="1200" dirty="0"/>
          </a:p>
          <a:p>
            <a:pPr algn="ctr" indent="0" marL="0">
              <a:lnSpc>
                <a:spcPts val="1800"/>
              </a:lnSpc>
              <a:buNone/>
            </a:pPr>
            <a:r>
              <a:rPr lang="en-US" sz="1200" dirty="0">
                <a:solidFill>
                  <a:srgbClr val="FFFFFF"/>
                </a:solidFill>
                <a:latin typeface="Inter" pitchFamily="34" charset="0"/>
                <a:ea typeface="Inter" pitchFamily="34" charset="-122"/>
                <a:cs typeface="Inter" pitchFamily="34" charset="-120"/>
              </a:rPr>
              <a:t>logs / metrics / traces / alerts</a:t>
            </a:r>
            <a:endParaRPr lang="en-US" sz="1200" dirty="0"/>
          </a:p>
        </p:txBody>
      </p:sp>
      <p:sp>
        <p:nvSpPr>
          <p:cNvPr id="20" name="Text 14"/>
          <p:cNvSpPr/>
          <p:nvPr/>
        </p:nvSpPr>
        <p:spPr>
          <a:xfrm>
            <a:off x="6057921" y="1365945"/>
            <a:ext cx="1227493" cy="182761"/>
          </a:xfrm>
          <a:prstGeom prst="rect">
            <a:avLst/>
          </a:prstGeom>
          <a:noFill/>
          <a:ln/>
        </p:spPr>
        <p:txBody>
          <a:bodyPr wrap="square" lIns="0" tIns="0" rIns="0" bIns="0" rtlCol="0" anchor="t"/>
          <a:lstStyle/>
          <a:p>
            <a:pPr algn="ct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03_correlation</a:t>
            </a:r>
            <a:endParaRPr lang="en-US" sz="960" dirty="0"/>
          </a:p>
        </p:txBody>
      </p:sp>
      <p:sp>
        <p:nvSpPr>
          <p:cNvPr id="21" name="Text 15"/>
          <p:cNvSpPr/>
          <p:nvPr/>
        </p:nvSpPr>
        <p:spPr>
          <a:xfrm>
            <a:off x="6069955" y="1624905"/>
            <a:ext cx="1203424" cy="1371600"/>
          </a:xfrm>
          <a:prstGeom prst="rect">
            <a:avLst/>
          </a:prstGeom>
          <a:noFill/>
          <a:ln/>
        </p:spPr>
        <p:txBody>
          <a:bodyPr wrap="square" lIns="0" tIns="0" rIns="0" bIns="0" rtlCol="0" anchor="t"/>
          <a:lstStyle/>
          <a:p>
            <a:pPr algn="ctr" indent="0" marL="0">
              <a:lnSpc>
                <a:spcPts val="1800"/>
              </a:lnSpc>
              <a:buNone/>
            </a:pPr>
            <a:r>
              <a:rPr lang="en-US" sz="1200" dirty="0">
                <a:solidFill>
                  <a:srgbClr val="FFFFFF"/>
                </a:solidFill>
                <a:latin typeface="Inter" pitchFamily="34" charset="0"/>
                <a:ea typeface="Inter" pitchFamily="34" charset="-122"/>
                <a:cs typeface="Inter" pitchFamily="34" charset="-120"/>
              </a:rPr>
              <a:t>DevOps Agent analysis</a:t>
            </a:r>
            <a:endParaRPr lang="en-US" sz="1200" dirty="0"/>
          </a:p>
          <a:p>
            <a:pPr algn="ctr" indent="0" marL="0">
              <a:lnSpc>
                <a:spcPts val="1800"/>
              </a:lnSpc>
              <a:buNone/>
            </a:pPr>
            <a:r>
              <a:rPr lang="en-US" sz="1200" dirty="0">
                <a:solidFill>
                  <a:srgbClr val="FFFFFF"/>
                </a:solidFill>
                <a:latin typeface="Inter" pitchFamily="34" charset="0"/>
                <a:ea typeface="Inter" pitchFamily="34" charset="-122"/>
                <a:cs typeface="Inter" pitchFamily="34" charset="-120"/>
              </a:rPr>
              <a:t>topology + incident evidence + hypothesis</a:t>
            </a:r>
            <a:endParaRPr lang="en-US" sz="1200" dirty="0"/>
          </a:p>
        </p:txBody>
      </p:sp>
      <p:sp>
        <p:nvSpPr>
          <p:cNvPr id="22" name="Text 16"/>
          <p:cNvSpPr/>
          <p:nvPr/>
        </p:nvSpPr>
        <p:spPr>
          <a:xfrm>
            <a:off x="8955494" y="1480245"/>
            <a:ext cx="1360170" cy="182761"/>
          </a:xfrm>
          <a:prstGeom prst="rect">
            <a:avLst/>
          </a:prstGeom>
          <a:noFill/>
          <a:ln/>
        </p:spPr>
        <p:txBody>
          <a:bodyPr wrap="square" lIns="0" tIns="0" rIns="0" bIns="0" rtlCol="0" anchor="t"/>
          <a:lstStyle/>
          <a:p>
            <a:pPr algn="ct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04_actions</a:t>
            </a:r>
            <a:endParaRPr lang="en-US" sz="960" dirty="0"/>
          </a:p>
        </p:txBody>
      </p:sp>
      <p:sp>
        <p:nvSpPr>
          <p:cNvPr id="23" name="Text 17"/>
          <p:cNvSpPr/>
          <p:nvPr/>
        </p:nvSpPr>
        <p:spPr>
          <a:xfrm>
            <a:off x="8968829" y="1739205"/>
            <a:ext cx="1333500" cy="1143000"/>
          </a:xfrm>
          <a:prstGeom prst="rect">
            <a:avLst/>
          </a:prstGeom>
          <a:noFill/>
          <a:ln/>
        </p:spPr>
        <p:txBody>
          <a:bodyPr wrap="square" lIns="0" tIns="0" rIns="0" bIns="0" rtlCol="0" anchor="t"/>
          <a:lstStyle/>
          <a:p>
            <a:pPr algn="ctr" indent="0" marL="0">
              <a:lnSpc>
                <a:spcPts val="1800"/>
              </a:lnSpc>
              <a:buNone/>
            </a:pPr>
            <a:r>
              <a:rPr lang="en-US" sz="1200" dirty="0">
                <a:solidFill>
                  <a:srgbClr val="FFFFFF"/>
                </a:solidFill>
                <a:latin typeface="Inter" pitchFamily="34" charset="0"/>
                <a:ea typeface="Inter" pitchFamily="34" charset="-122"/>
                <a:cs typeface="Inter" pitchFamily="34" charset="-120"/>
              </a:rPr>
              <a:t>Chat, reports, recommendations,</a:t>
            </a:r>
            <a:endParaRPr lang="en-US" sz="1200" dirty="0"/>
          </a:p>
          <a:p>
            <a:pPr algn="ctr" indent="0" marL="0">
              <a:lnSpc>
                <a:spcPts val="1800"/>
              </a:lnSpc>
              <a:buNone/>
            </a:pPr>
            <a:r>
              <a:rPr lang="en-US" sz="1200" dirty="0">
                <a:solidFill>
                  <a:srgbClr val="FFFFFF"/>
                </a:solidFill>
                <a:latin typeface="Inter" pitchFamily="34" charset="0"/>
                <a:ea typeface="Inter" pitchFamily="34" charset="-122"/>
                <a:cs typeface="Inter" pitchFamily="34" charset="-120"/>
              </a:rPr>
              <a:t>ServiceNow / Slack / PagerDuty routing</a:t>
            </a:r>
            <a:endParaRPr lang="en-US" sz="1200" dirty="0"/>
          </a:p>
        </p:txBody>
      </p:sp>
      <p:sp>
        <p:nvSpPr>
          <p:cNvPr id="24" name="Text 18"/>
          <p:cNvSpPr/>
          <p:nvPr/>
        </p:nvSpPr>
        <p:spPr>
          <a:xfrm>
            <a:off x="657225" y="4053780"/>
            <a:ext cx="2260372"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topology_views</a:t>
            </a:r>
            <a:endParaRPr lang="en-US" sz="960" dirty="0"/>
          </a:p>
        </p:txBody>
      </p:sp>
      <p:sp>
        <p:nvSpPr>
          <p:cNvPr id="25" name="Text 19"/>
          <p:cNvSpPr/>
          <p:nvPr/>
        </p:nvSpPr>
        <p:spPr>
          <a:xfrm>
            <a:off x="657225" y="4312741"/>
            <a:ext cx="2216051" cy="114300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Inter" pitchFamily="34" charset="0"/>
                <a:ea typeface="Inter" pitchFamily="34" charset="-122"/>
                <a:cs typeface="Inter" pitchFamily="34" charset="-120"/>
              </a:rPr>
              <a:t>System, container, and resource views support high-level boundary analysis and deep resource relationship inspection.</a:t>
            </a:r>
            <a:endParaRPr lang="en-US" sz="1200" dirty="0"/>
          </a:p>
        </p:txBody>
      </p:sp>
      <p:sp>
        <p:nvSpPr>
          <p:cNvPr id="26" name="Text 20"/>
          <p:cNvSpPr/>
          <p:nvPr/>
        </p:nvSpPr>
        <p:spPr>
          <a:xfrm>
            <a:off x="3463826" y="4053780"/>
            <a:ext cx="2260524"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resource_discovery</a:t>
            </a:r>
            <a:endParaRPr lang="en-US" sz="960" dirty="0"/>
          </a:p>
        </p:txBody>
      </p:sp>
      <p:sp>
        <p:nvSpPr>
          <p:cNvPr id="27" name="Text 21"/>
          <p:cNvSpPr/>
          <p:nvPr/>
        </p:nvSpPr>
        <p:spPr>
          <a:xfrm>
            <a:off x="3463826" y="4312741"/>
            <a:ext cx="2216200" cy="114300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Inter" pitchFamily="34" charset="0"/>
                <a:ea typeface="Inter" pitchFamily="34" charset="-122"/>
                <a:cs typeface="Inter" pitchFamily="34" charset="-120"/>
              </a:rPr>
              <a:t>CloudFormation-backed discovery helps the service enumerate deployed resources and relationships across connected accounts.</a:t>
            </a:r>
            <a:endParaRPr lang="en-US" sz="1200" dirty="0"/>
          </a:p>
        </p:txBody>
      </p:sp>
      <p:sp>
        <p:nvSpPr>
          <p:cNvPr id="28" name="Text 22"/>
          <p:cNvSpPr/>
          <p:nvPr/>
        </p:nvSpPr>
        <p:spPr>
          <a:xfrm>
            <a:off x="6270575" y="4053780"/>
            <a:ext cx="2260372"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architect_value</a:t>
            </a:r>
            <a:endParaRPr lang="en-US" sz="960" dirty="0"/>
          </a:p>
        </p:txBody>
      </p:sp>
      <p:sp>
        <p:nvSpPr>
          <p:cNvPr id="29" name="Text 23"/>
          <p:cNvSpPr/>
          <p:nvPr/>
        </p:nvSpPr>
        <p:spPr>
          <a:xfrm>
            <a:off x="6270575" y="4312741"/>
            <a:ext cx="2216051" cy="114300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Inter" pitchFamily="34" charset="0"/>
                <a:ea typeface="Inter" pitchFamily="34" charset="-122"/>
                <a:cs typeface="Inter" pitchFamily="34" charset="-120"/>
              </a:rPr>
              <a:t>The model fits teams that want service maps, incident reasoning, and delivery context in one operational graph.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57200" y="1409700"/>
            <a:ext cx="4000500" cy="3573661"/>
          </a:xfrm>
          <a:prstGeom prst="roundRect">
            <a:avLst>
              <a:gd name="adj" fmla="val 51174"/>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4" name="Text 1"/>
          <p:cNvSpPr/>
          <p:nvPr/>
        </p:nvSpPr>
        <p:spPr>
          <a:xfrm>
            <a:off x="4686300" y="1409700"/>
            <a:ext cx="4000500" cy="3573661"/>
          </a:xfrm>
          <a:prstGeom prst="roundRect">
            <a:avLst>
              <a:gd name="adj" fmla="val 51174"/>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5" name="Text 2"/>
          <p:cNvSpPr/>
          <p:nvPr/>
        </p:nvSpPr>
        <p:spPr>
          <a:xfrm>
            <a:off x="4962525" y="3438525"/>
            <a:ext cx="3448050" cy="1268611"/>
          </a:xfrm>
          <a:prstGeom prst="roundRect">
            <a:avLst>
              <a:gd name="adj" fmla="val 144158"/>
            </a:avLst>
          </a:prstGeom>
          <a:solidFill>
            <a:srgbClr val="020617">
              <a:alpha val="45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6" name="Text 3"/>
          <p:cNvSpPr/>
          <p:nvPr/>
        </p:nvSpPr>
        <p:spPr>
          <a:xfrm>
            <a:off x="457200" y="160139"/>
            <a:ext cx="8394192"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integration_surface</a:t>
            </a:r>
            <a:endParaRPr lang="en-US" sz="960" dirty="0"/>
          </a:p>
        </p:txBody>
      </p:sp>
      <p:sp>
        <p:nvSpPr>
          <p:cNvPr id="7" name="Text 4"/>
          <p:cNvSpPr/>
          <p:nvPr/>
        </p:nvSpPr>
        <p:spPr>
          <a:xfrm>
            <a:off x="457200" y="419100"/>
            <a:ext cx="8394192" cy="685800"/>
          </a:xfrm>
          <a:prstGeom prst="rect">
            <a:avLst/>
          </a:prstGeom>
          <a:noFill/>
          <a:ln/>
        </p:spPr>
        <p:txBody>
          <a:bodyPr wrap="square" lIns="0" tIns="0" rIns="0" bIns="0" rtlCol="0" anchor="t"/>
          <a:lstStyle/>
          <a:p>
            <a:pPr indent="0" marL="0">
              <a:lnSpc>
                <a:spcPts val="5400"/>
              </a:lnSpc>
              <a:buNone/>
            </a:pPr>
            <a:r>
              <a:rPr lang="en-US" sz="3600" b="1" dirty="0">
                <a:solidFill>
                  <a:srgbClr val="FFFFFF"/>
                </a:solidFill>
                <a:latin typeface="JetBrains Mono" pitchFamily="34" charset="0"/>
                <a:ea typeface="JetBrains Mono" pitchFamily="34" charset="-122"/>
                <a:cs typeface="JetBrains Mono" pitchFamily="34" charset="-120"/>
              </a:rPr>
              <a:t>Integration surface</a:t>
            </a:r>
            <a:endParaRPr lang="en-US" sz="3600" dirty="0"/>
          </a:p>
        </p:txBody>
      </p:sp>
      <p:sp>
        <p:nvSpPr>
          <p:cNvPr id="8" name="Text 5"/>
          <p:cNvSpPr/>
          <p:nvPr/>
        </p:nvSpPr>
        <p:spPr>
          <a:xfrm>
            <a:off x="733425" y="1685925"/>
            <a:ext cx="3517011" cy="266700"/>
          </a:xfrm>
          <a:prstGeom prst="rect">
            <a:avLst/>
          </a:prstGeom>
          <a:noFill/>
          <a:ln/>
        </p:spPr>
        <p:txBody>
          <a:bodyPr wrap="square" lIns="0" tIns="0" rIns="0" bIns="0" rtlCol="0" anchor="t"/>
          <a:lstStyle/>
          <a:p>
            <a:pPr indent="0" marL="0">
              <a:lnSpc>
                <a:spcPts val="2100"/>
              </a:lnSpc>
              <a:buNone/>
            </a:pPr>
            <a:r>
              <a:rPr lang="en-US" sz="1500" b="1" dirty="0">
                <a:solidFill>
                  <a:srgbClr val="FFFFFF"/>
                </a:solidFill>
                <a:latin typeface="Inter" pitchFamily="34" charset="0"/>
                <a:ea typeface="Inter" pitchFamily="34" charset="-122"/>
                <a:cs typeface="Inter" pitchFamily="34" charset="-120"/>
              </a:rPr>
              <a:t>Native and partner signals</a:t>
            </a:r>
            <a:endParaRPr lang="en-US" sz="1500" dirty="0"/>
          </a:p>
        </p:txBody>
      </p:sp>
      <p:sp>
        <p:nvSpPr>
          <p:cNvPr id="9" name="Text 6"/>
          <p:cNvSpPr/>
          <p:nvPr/>
        </p:nvSpPr>
        <p:spPr>
          <a:xfrm>
            <a:off x="733425" y="2105025"/>
            <a:ext cx="3448050" cy="2171700"/>
          </a:xfrm>
          <a:prstGeom prst="rect">
            <a:avLst/>
          </a:prstGeom>
          <a:noFill/>
          <a:ln/>
        </p:spPr>
        <p:txBody>
          <a:bodyPr wrap="square" lIns="0" tIns="0" rIns="0" bIns="0" rtlCol="0" anchor="t"/>
          <a:lstStyle/>
          <a:p>
            <a:pPr marL="342900" indent="-342900">
              <a:lnSpc>
                <a:spcPts val="1800"/>
              </a:lnSpc>
              <a:buSzPct val="100000"/>
              <a:buChar char="•"/>
            </a:pPr>
            <a:r>
              <a:rPr lang="en-US" sz="1200" dirty="0">
                <a:solidFill>
                  <a:srgbClr val="B8C4D8"/>
                </a:solidFill>
                <a:latin typeface="Inter" pitchFamily="34" charset="0"/>
                <a:ea typeface="Inter" pitchFamily="34" charset="-122"/>
                <a:cs typeface="Inter" pitchFamily="34" charset="-120"/>
              </a:rPr>
              <a:t>Amazon CloudWatch for AWS-native metrics, logs, and alerting context.</a:t>
            </a:r>
            <a:endParaRPr lang="en-US" sz="1200" dirty="0"/>
          </a:p>
          <a:p>
            <a:pPr marL="342900" indent="-342900">
              <a:lnSpc>
                <a:spcPts val="1800"/>
              </a:lnSpc>
              <a:buSzPct val="100000"/>
              <a:buChar char="•"/>
            </a:pPr>
            <a:r>
              <a:rPr lang="en-US" sz="1200" dirty="0">
                <a:solidFill>
                  <a:srgbClr val="B8C4D8"/>
                </a:solidFill>
                <a:latin typeface="Inter" pitchFamily="34" charset="0"/>
                <a:ea typeface="Inter" pitchFamily="34" charset="-122"/>
                <a:cs typeface="Inter" pitchFamily="34" charset="-120"/>
              </a:rPr>
              <a:t>Dynatrace, Datadog, Grafana, New Relic, and Splunk for broader observability correlation.</a:t>
            </a:r>
            <a:endParaRPr lang="en-US" sz="1200" dirty="0"/>
          </a:p>
          <a:p>
            <a:pPr marL="342900" indent="-342900">
              <a:lnSpc>
                <a:spcPts val="1800"/>
              </a:lnSpc>
              <a:buSzPct val="100000"/>
              <a:buChar char="•"/>
            </a:pPr>
            <a:r>
              <a:rPr lang="en-US" sz="1200" dirty="0">
                <a:solidFill>
                  <a:srgbClr val="B8C4D8"/>
                </a:solidFill>
                <a:latin typeface="Inter" pitchFamily="34" charset="0"/>
                <a:ea typeface="Inter" pitchFamily="34" charset="-122"/>
                <a:cs typeface="Inter" pitchFamily="34" charset="-120"/>
              </a:rPr>
              <a:t>GitHub, GitLab, and Azure DevOps for repository and delivery context.</a:t>
            </a:r>
            <a:endParaRPr lang="en-US" sz="1200" dirty="0"/>
          </a:p>
          <a:p>
            <a:pPr marL="342900" indent="-342900">
              <a:lnSpc>
                <a:spcPts val="1800"/>
              </a:lnSpc>
              <a:buSzPct val="100000"/>
              <a:buChar char="•"/>
            </a:pPr>
            <a:r>
              <a:rPr lang="en-US" sz="1200" dirty="0">
                <a:solidFill>
                  <a:srgbClr val="B8C4D8"/>
                </a:solidFill>
                <a:latin typeface="Inter" pitchFamily="34" charset="0"/>
                <a:ea typeface="Inter" pitchFamily="34" charset="-122"/>
                <a:cs typeface="Inter" pitchFamily="34" charset="-120"/>
              </a:rPr>
              <a:t>ServiceNow, PagerDuty, Slack, and AWS Support for incident workflow propagation.</a:t>
            </a:r>
            <a:endParaRPr lang="en-US" sz="1200" dirty="0"/>
          </a:p>
        </p:txBody>
      </p:sp>
      <p:sp>
        <p:nvSpPr>
          <p:cNvPr id="10" name="Text 7"/>
          <p:cNvSpPr/>
          <p:nvPr/>
        </p:nvSpPr>
        <p:spPr>
          <a:xfrm>
            <a:off x="4962525" y="1685925"/>
            <a:ext cx="3517011" cy="266700"/>
          </a:xfrm>
          <a:prstGeom prst="rect">
            <a:avLst/>
          </a:prstGeom>
          <a:noFill/>
          <a:ln/>
        </p:spPr>
        <p:txBody>
          <a:bodyPr wrap="square" lIns="0" tIns="0" rIns="0" bIns="0" rtlCol="0" anchor="t"/>
          <a:lstStyle/>
          <a:p>
            <a:pPr indent="0" marL="0">
              <a:lnSpc>
                <a:spcPts val="2100"/>
              </a:lnSpc>
              <a:buNone/>
            </a:pPr>
            <a:r>
              <a:rPr lang="en-US" sz="1500" b="1" dirty="0">
                <a:solidFill>
                  <a:srgbClr val="FFFFFF"/>
                </a:solidFill>
                <a:latin typeface="Inter" pitchFamily="34" charset="0"/>
                <a:ea typeface="Inter" pitchFamily="34" charset="-122"/>
                <a:cs typeface="Inter" pitchFamily="34" charset="-120"/>
              </a:rPr>
              <a:t>Extensibility pattern</a:t>
            </a:r>
            <a:endParaRPr lang="en-US" sz="1500" dirty="0"/>
          </a:p>
        </p:txBody>
      </p:sp>
      <p:sp>
        <p:nvSpPr>
          <p:cNvPr id="11" name="Text 8"/>
          <p:cNvSpPr/>
          <p:nvPr/>
        </p:nvSpPr>
        <p:spPr>
          <a:xfrm>
            <a:off x="4962525" y="2105025"/>
            <a:ext cx="3448050" cy="1143000"/>
          </a:xfrm>
          <a:prstGeom prst="rect">
            <a:avLst/>
          </a:prstGeom>
          <a:noFill/>
          <a:ln/>
        </p:spPr>
        <p:txBody>
          <a:bodyPr wrap="square" lIns="0" tIns="0" rIns="0" bIns="0" rtlCol="0" anchor="t"/>
          <a:lstStyle/>
          <a:p>
            <a:pPr indent="0" marL="0">
              <a:lnSpc>
                <a:spcPts val="1800"/>
              </a:lnSpc>
              <a:buNone/>
            </a:pPr>
            <a:r>
              <a:rPr lang="en-US" sz="1200" dirty="0">
                <a:solidFill>
                  <a:srgbClr val="B8C4D8"/>
                </a:solidFill>
                <a:latin typeface="Inter" pitchFamily="34" charset="0"/>
                <a:ea typeface="Inter" pitchFamily="34" charset="-122"/>
                <a:cs typeface="Inter" pitchFamily="34" charset="-120"/>
              </a:rPr>
              <a:t>Private or remote MCP servers extend the agent to internal platforms and custom tools, which is important for platform teams that rely on proprietary deployment systems, CMDBs, or operational knowledge stores.</a:t>
            </a:r>
            <a:endParaRPr lang="en-US" sz="1200" dirty="0"/>
          </a:p>
        </p:txBody>
      </p:sp>
      <p:sp>
        <p:nvSpPr>
          <p:cNvPr id="12" name="Text 9"/>
          <p:cNvSpPr/>
          <p:nvPr/>
        </p:nvSpPr>
        <p:spPr>
          <a:xfrm>
            <a:off x="5124450" y="3600450"/>
            <a:ext cx="3186684"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integration_principle</a:t>
            </a:r>
            <a:endParaRPr lang="en-US" sz="960" dirty="0"/>
          </a:p>
        </p:txBody>
      </p:sp>
      <p:sp>
        <p:nvSpPr>
          <p:cNvPr id="13" name="Text 10"/>
          <p:cNvSpPr/>
          <p:nvPr/>
        </p:nvSpPr>
        <p:spPr>
          <a:xfrm>
            <a:off x="5124450" y="3859411"/>
            <a:ext cx="3124200" cy="68580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Inter" pitchFamily="34" charset="0"/>
                <a:ea typeface="Inter" pitchFamily="34" charset="-122"/>
                <a:cs typeface="Inter" pitchFamily="34" charset="-120"/>
              </a:rPr>
              <a:t>Bring existing sources of truth to the agent instead of rebuilding workflows outside your engineering toolchain.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57200" y="409575"/>
            <a:ext cx="2590800" cy="2754511"/>
          </a:xfrm>
          <a:prstGeom prst="roundRect">
            <a:avLst>
              <a:gd name="adj" fmla="val 70588"/>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4" name="Text 1"/>
          <p:cNvSpPr/>
          <p:nvPr/>
        </p:nvSpPr>
        <p:spPr>
          <a:xfrm>
            <a:off x="3276600" y="409575"/>
            <a:ext cx="2590800" cy="2754511"/>
          </a:xfrm>
          <a:prstGeom prst="roundRect">
            <a:avLst>
              <a:gd name="adj" fmla="val 70588"/>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5" name="Text 2"/>
          <p:cNvSpPr/>
          <p:nvPr/>
        </p:nvSpPr>
        <p:spPr>
          <a:xfrm>
            <a:off x="6096000" y="409575"/>
            <a:ext cx="2590800" cy="2754511"/>
          </a:xfrm>
          <a:prstGeom prst="roundRect">
            <a:avLst>
              <a:gd name="adj" fmla="val 70588"/>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6" name="Text 3"/>
          <p:cNvSpPr/>
          <p:nvPr/>
        </p:nvSpPr>
        <p:spPr>
          <a:xfrm>
            <a:off x="457200" y="3468886"/>
            <a:ext cx="8229600" cy="2514600"/>
          </a:xfrm>
          <a:prstGeom prst="roundRect">
            <a:avLst>
              <a:gd name="adj" fmla="val 72727"/>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7" name="Text 4"/>
          <p:cNvSpPr/>
          <p:nvPr/>
        </p:nvSpPr>
        <p:spPr>
          <a:xfrm>
            <a:off x="695325" y="4354711"/>
            <a:ext cx="7753350" cy="209550"/>
          </a:xfrm>
          <a:prstGeom prst="roundRect">
            <a:avLst>
              <a:gd name="adj" fmla="val 43592727"/>
            </a:avLst>
          </a:prstGeom>
          <a:solidFill>
            <a:srgbClr val="FFFFFF">
              <a:alpha val="6000"/>
            </a:srgbClr>
          </a:solidFill>
          <a:ln w="9525">
            <a:solidFill>
              <a:srgbClr val="94A3B8"/>
            </a:solidFill>
          </a:ln>
        </p:spPr>
        <p:txBody>
          <a:bodyPr wrap="none" lIns="0" tIns="0" rIns="0" bIns="0" rtlCol="0" anchor="ctr">
            <a:normAutofit/>
          </a:bodyPr>
          <a:lstStyle/>
          <a:p>
            <a:pPr indent="0" marL="0">
              <a:buNone/>
            </a:pPr>
            <a:endParaRPr lang="en-US" dirty="0"/>
          </a:p>
        </p:txBody>
      </p:sp>
      <p:sp>
        <p:nvSpPr>
          <p:cNvPr id="8" name="Text 5"/>
          <p:cNvSpPr/>
          <p:nvPr/>
        </p:nvSpPr>
        <p:spPr>
          <a:xfrm>
            <a:off x="695325" y="4945261"/>
            <a:ext cx="7753350" cy="209550"/>
          </a:xfrm>
          <a:prstGeom prst="roundRect">
            <a:avLst>
              <a:gd name="adj" fmla="val 43592727"/>
            </a:avLst>
          </a:prstGeom>
          <a:solidFill>
            <a:srgbClr val="FFFFFF">
              <a:alpha val="6000"/>
            </a:srgbClr>
          </a:solidFill>
          <a:ln w="9525">
            <a:solidFill>
              <a:srgbClr val="94A3B8"/>
            </a:solidFill>
          </a:ln>
        </p:spPr>
        <p:txBody>
          <a:bodyPr wrap="none" lIns="0" tIns="0" rIns="0" bIns="0" rtlCol="0" anchor="ctr">
            <a:normAutofit/>
          </a:bodyPr>
          <a:lstStyle/>
          <a:p>
            <a:pPr indent="0" marL="0">
              <a:buNone/>
            </a:pPr>
            <a:endParaRPr lang="en-US" dirty="0"/>
          </a:p>
        </p:txBody>
      </p:sp>
      <p:sp>
        <p:nvSpPr>
          <p:cNvPr id="9" name="Text 6"/>
          <p:cNvSpPr/>
          <p:nvPr/>
        </p:nvSpPr>
        <p:spPr>
          <a:xfrm>
            <a:off x="695325" y="5535811"/>
            <a:ext cx="7753350" cy="209550"/>
          </a:xfrm>
          <a:prstGeom prst="roundRect">
            <a:avLst>
              <a:gd name="adj" fmla="val 43592727"/>
            </a:avLst>
          </a:prstGeom>
          <a:solidFill>
            <a:srgbClr val="FFFFFF">
              <a:alpha val="6000"/>
            </a:srgbClr>
          </a:solidFill>
          <a:ln w="9525">
            <a:solidFill>
              <a:srgbClr val="94A3B8"/>
            </a:solidFill>
          </a:ln>
        </p:spPr>
        <p:txBody>
          <a:bodyPr wrap="none" lIns="0" tIns="0" rIns="0" bIns="0" rtlCol="0" anchor="ctr">
            <a:normAutofit/>
          </a:bodyPr>
          <a:lstStyle/>
          <a:p>
            <a:pPr indent="0" marL="0">
              <a:buNone/>
            </a:pPr>
            <a:endParaRPr lang="en-US" dirty="0"/>
          </a:p>
        </p:txBody>
      </p:sp>
      <p:sp>
        <p:nvSpPr>
          <p:cNvPr id="10" name="Text 7"/>
          <p:cNvSpPr/>
          <p:nvPr/>
        </p:nvSpPr>
        <p:spPr>
          <a:xfrm>
            <a:off x="457200" y="-839986"/>
            <a:ext cx="8394192"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security_boundaries</a:t>
            </a:r>
            <a:endParaRPr lang="en-US" sz="960" dirty="0"/>
          </a:p>
        </p:txBody>
      </p:sp>
      <p:sp>
        <p:nvSpPr>
          <p:cNvPr id="11" name="Text 8"/>
          <p:cNvSpPr/>
          <p:nvPr/>
        </p:nvSpPr>
        <p:spPr>
          <a:xfrm>
            <a:off x="457200" y="-581025"/>
            <a:ext cx="8394192" cy="685800"/>
          </a:xfrm>
          <a:prstGeom prst="rect">
            <a:avLst/>
          </a:prstGeom>
          <a:noFill/>
          <a:ln/>
        </p:spPr>
        <p:txBody>
          <a:bodyPr wrap="square" lIns="0" tIns="0" rIns="0" bIns="0" rtlCol="0" anchor="t"/>
          <a:lstStyle/>
          <a:p>
            <a:pPr indent="0" marL="0">
              <a:lnSpc>
                <a:spcPts val="5400"/>
              </a:lnSpc>
              <a:buNone/>
            </a:pPr>
            <a:r>
              <a:rPr lang="en-US" sz="3600" b="1" dirty="0">
                <a:solidFill>
                  <a:srgbClr val="FFFFFF"/>
                </a:solidFill>
                <a:latin typeface="JetBrains Mono" pitchFamily="34" charset="0"/>
                <a:ea typeface="JetBrains Mono" pitchFamily="34" charset="-122"/>
                <a:cs typeface="JetBrains Mono" pitchFamily="34" charset="-120"/>
              </a:rPr>
              <a:t>Security and control boundaries</a:t>
            </a:r>
            <a:endParaRPr lang="en-US" sz="3600" dirty="0"/>
          </a:p>
        </p:txBody>
      </p:sp>
      <p:sp>
        <p:nvSpPr>
          <p:cNvPr id="12" name="Text 9"/>
          <p:cNvSpPr/>
          <p:nvPr/>
        </p:nvSpPr>
        <p:spPr>
          <a:xfrm>
            <a:off x="695325" y="647700"/>
            <a:ext cx="2156841"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boundary_01</a:t>
            </a:r>
            <a:endParaRPr lang="en-US" sz="960" dirty="0"/>
          </a:p>
        </p:txBody>
      </p:sp>
      <p:sp>
        <p:nvSpPr>
          <p:cNvPr id="13" name="Text 10"/>
          <p:cNvSpPr/>
          <p:nvPr/>
        </p:nvSpPr>
        <p:spPr>
          <a:xfrm>
            <a:off x="695325" y="944761"/>
            <a:ext cx="2156841" cy="266700"/>
          </a:xfrm>
          <a:prstGeom prst="rect">
            <a:avLst/>
          </a:prstGeom>
          <a:noFill/>
          <a:ln/>
        </p:spPr>
        <p:txBody>
          <a:bodyPr wrap="square" lIns="0" tIns="0" rIns="0" bIns="0" rtlCol="0" anchor="t"/>
          <a:lstStyle/>
          <a:p>
            <a:pPr indent="0" marL="0">
              <a:lnSpc>
                <a:spcPts val="2100"/>
              </a:lnSpc>
              <a:buNone/>
            </a:pPr>
            <a:r>
              <a:rPr lang="en-US" sz="1500" b="1" dirty="0">
                <a:solidFill>
                  <a:srgbClr val="FFFFFF"/>
                </a:solidFill>
                <a:latin typeface="Inter" pitchFamily="34" charset="0"/>
                <a:ea typeface="Inter" pitchFamily="34" charset="-122"/>
                <a:cs typeface="Inter" pitchFamily="34" charset="-120"/>
              </a:rPr>
              <a:t>Agent Spaces</a:t>
            </a:r>
            <a:endParaRPr lang="en-US" sz="1500" dirty="0"/>
          </a:p>
        </p:txBody>
      </p:sp>
      <p:sp>
        <p:nvSpPr>
          <p:cNvPr id="14" name="Text 11"/>
          <p:cNvSpPr/>
          <p:nvPr/>
        </p:nvSpPr>
        <p:spPr>
          <a:xfrm>
            <a:off x="695325" y="1325761"/>
            <a:ext cx="2114550" cy="1600200"/>
          </a:xfrm>
          <a:prstGeom prst="rect">
            <a:avLst/>
          </a:prstGeom>
          <a:noFill/>
          <a:ln/>
        </p:spPr>
        <p:txBody>
          <a:bodyPr wrap="square" lIns="0" tIns="0" rIns="0" bIns="0" rtlCol="0" anchor="t"/>
          <a:lstStyle/>
          <a:p>
            <a:pPr indent="0" marL="0">
              <a:lnSpc>
                <a:spcPts val="1800"/>
              </a:lnSpc>
              <a:buNone/>
            </a:pPr>
            <a:r>
              <a:rPr lang="en-US" sz="1200" dirty="0">
                <a:solidFill>
                  <a:srgbClr val="B8C4D8"/>
                </a:solidFill>
                <a:latin typeface="Inter" pitchFamily="34" charset="0"/>
                <a:ea typeface="Inter" pitchFamily="34" charset="-122"/>
                <a:cs typeface="Inter" pitchFamily="34" charset="-120"/>
              </a:rPr>
              <a:t>Agent Spaces act as logical containers that define what the service can access and investigate, including AWS account configurations, integrations, and permissions.</a:t>
            </a:r>
            <a:endParaRPr lang="en-US" sz="1200" dirty="0"/>
          </a:p>
        </p:txBody>
      </p:sp>
      <p:sp>
        <p:nvSpPr>
          <p:cNvPr id="15" name="Text 12"/>
          <p:cNvSpPr/>
          <p:nvPr/>
        </p:nvSpPr>
        <p:spPr>
          <a:xfrm>
            <a:off x="3514725" y="647700"/>
            <a:ext cx="2156841"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boundary_02</a:t>
            </a:r>
            <a:endParaRPr lang="en-US" sz="960" dirty="0"/>
          </a:p>
        </p:txBody>
      </p:sp>
      <p:sp>
        <p:nvSpPr>
          <p:cNvPr id="16" name="Text 13"/>
          <p:cNvSpPr/>
          <p:nvPr/>
        </p:nvSpPr>
        <p:spPr>
          <a:xfrm>
            <a:off x="3514725" y="944761"/>
            <a:ext cx="2156841" cy="266700"/>
          </a:xfrm>
          <a:prstGeom prst="rect">
            <a:avLst/>
          </a:prstGeom>
          <a:noFill/>
          <a:ln/>
        </p:spPr>
        <p:txBody>
          <a:bodyPr wrap="square" lIns="0" tIns="0" rIns="0" bIns="0" rtlCol="0" anchor="t"/>
          <a:lstStyle/>
          <a:p>
            <a:pPr indent="0" marL="0">
              <a:lnSpc>
                <a:spcPts val="2100"/>
              </a:lnSpc>
              <a:buNone/>
            </a:pPr>
            <a:r>
              <a:rPr lang="en-US" sz="1500" b="1" dirty="0">
                <a:solidFill>
                  <a:srgbClr val="FFFFFF"/>
                </a:solidFill>
                <a:latin typeface="Inter" pitchFamily="34" charset="0"/>
                <a:ea typeface="Inter" pitchFamily="34" charset="-122"/>
                <a:cs typeface="Inter" pitchFamily="34" charset="-120"/>
              </a:rPr>
              <a:t>Access isolation</a:t>
            </a:r>
            <a:endParaRPr lang="en-US" sz="1500" dirty="0"/>
          </a:p>
        </p:txBody>
      </p:sp>
      <p:sp>
        <p:nvSpPr>
          <p:cNvPr id="17" name="Text 14"/>
          <p:cNvSpPr/>
          <p:nvPr/>
        </p:nvSpPr>
        <p:spPr>
          <a:xfrm>
            <a:off x="3514725" y="1325761"/>
            <a:ext cx="2114550" cy="1600200"/>
          </a:xfrm>
          <a:prstGeom prst="rect">
            <a:avLst/>
          </a:prstGeom>
          <a:noFill/>
          <a:ln/>
        </p:spPr>
        <p:txBody>
          <a:bodyPr wrap="square" lIns="0" tIns="0" rIns="0" bIns="0" rtlCol="0" anchor="t"/>
          <a:lstStyle/>
          <a:p>
            <a:pPr indent="0" marL="0">
              <a:lnSpc>
                <a:spcPts val="1800"/>
              </a:lnSpc>
              <a:buNone/>
            </a:pPr>
            <a:r>
              <a:rPr lang="en-US" sz="1200" dirty="0">
                <a:solidFill>
                  <a:srgbClr val="B8C4D8"/>
                </a:solidFill>
                <a:latin typeface="Inter" pitchFamily="34" charset="0"/>
                <a:ea typeface="Inter" pitchFamily="34" charset="-122"/>
                <a:cs typeface="Inter" pitchFamily="34" charset="-120"/>
              </a:rPr>
              <a:t>Practical architecture guidance emphasizes dedicated IAM roles and separation between spaces so one space does not expose data or access from another.</a:t>
            </a:r>
            <a:endParaRPr lang="en-US" sz="1200" dirty="0"/>
          </a:p>
        </p:txBody>
      </p:sp>
      <p:sp>
        <p:nvSpPr>
          <p:cNvPr id="18" name="Text 15"/>
          <p:cNvSpPr/>
          <p:nvPr/>
        </p:nvSpPr>
        <p:spPr>
          <a:xfrm>
            <a:off x="6334125" y="647700"/>
            <a:ext cx="2156841"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boundary_03</a:t>
            </a:r>
            <a:endParaRPr lang="en-US" sz="960" dirty="0"/>
          </a:p>
        </p:txBody>
      </p:sp>
      <p:sp>
        <p:nvSpPr>
          <p:cNvPr id="19" name="Text 16"/>
          <p:cNvSpPr/>
          <p:nvPr/>
        </p:nvSpPr>
        <p:spPr>
          <a:xfrm>
            <a:off x="6334125" y="944761"/>
            <a:ext cx="2156841" cy="266700"/>
          </a:xfrm>
          <a:prstGeom prst="rect">
            <a:avLst/>
          </a:prstGeom>
          <a:noFill/>
          <a:ln/>
        </p:spPr>
        <p:txBody>
          <a:bodyPr wrap="square" lIns="0" tIns="0" rIns="0" bIns="0" rtlCol="0" anchor="t"/>
          <a:lstStyle/>
          <a:p>
            <a:pPr indent="0" marL="0">
              <a:lnSpc>
                <a:spcPts val="2100"/>
              </a:lnSpc>
              <a:buNone/>
            </a:pPr>
            <a:r>
              <a:rPr lang="en-US" sz="1500" b="1" dirty="0">
                <a:solidFill>
                  <a:srgbClr val="FFFFFF"/>
                </a:solidFill>
                <a:latin typeface="Inter" pitchFamily="34" charset="0"/>
                <a:ea typeface="Inter" pitchFamily="34" charset="-122"/>
                <a:cs typeface="Inter" pitchFamily="34" charset="-120"/>
              </a:rPr>
              <a:t>Governed execution</a:t>
            </a:r>
            <a:endParaRPr lang="en-US" sz="1500" dirty="0"/>
          </a:p>
        </p:txBody>
      </p:sp>
      <p:sp>
        <p:nvSpPr>
          <p:cNvPr id="20" name="Text 17"/>
          <p:cNvSpPr/>
          <p:nvPr/>
        </p:nvSpPr>
        <p:spPr>
          <a:xfrm>
            <a:off x="6334125" y="1325761"/>
            <a:ext cx="2114550" cy="1371600"/>
          </a:xfrm>
          <a:prstGeom prst="rect">
            <a:avLst/>
          </a:prstGeom>
          <a:noFill/>
          <a:ln/>
        </p:spPr>
        <p:txBody>
          <a:bodyPr wrap="square" lIns="0" tIns="0" rIns="0" bIns="0" rtlCol="0" anchor="t"/>
          <a:lstStyle/>
          <a:p>
            <a:pPr indent="0" marL="0">
              <a:lnSpc>
                <a:spcPts val="1800"/>
              </a:lnSpc>
              <a:buNone/>
            </a:pPr>
            <a:r>
              <a:rPr lang="en-US" sz="1200" dirty="0">
                <a:solidFill>
                  <a:srgbClr val="B8C4D8"/>
                </a:solidFill>
                <a:latin typeface="Inter" pitchFamily="34" charset="0"/>
                <a:ea typeface="Inter" pitchFamily="34" charset="-122"/>
                <a:cs typeface="Inter" pitchFamily="34" charset="-120"/>
              </a:rPr>
              <a:t>The right design pattern is human-reviewed remediation with approved channels, least-privilege integrations, and traceable incident coordination.</a:t>
            </a:r>
            <a:endParaRPr lang="en-US" sz="1200" dirty="0"/>
          </a:p>
        </p:txBody>
      </p:sp>
      <p:sp>
        <p:nvSpPr>
          <p:cNvPr id="21" name="Text 18"/>
          <p:cNvSpPr/>
          <p:nvPr/>
        </p:nvSpPr>
        <p:spPr>
          <a:xfrm>
            <a:off x="695325" y="3707011"/>
            <a:ext cx="7908417" cy="266700"/>
          </a:xfrm>
          <a:prstGeom prst="rect">
            <a:avLst/>
          </a:prstGeom>
          <a:noFill/>
          <a:ln/>
        </p:spPr>
        <p:txBody>
          <a:bodyPr wrap="square" lIns="0" tIns="0" rIns="0" bIns="0" rtlCol="0" anchor="t"/>
          <a:lstStyle/>
          <a:p>
            <a:pPr indent="0" marL="0">
              <a:lnSpc>
                <a:spcPts val="2100"/>
              </a:lnSpc>
              <a:buNone/>
            </a:pPr>
            <a:r>
              <a:rPr lang="en-US" sz="1350" b="1" dirty="0">
                <a:solidFill>
                  <a:srgbClr val="FFFFFF"/>
                </a:solidFill>
                <a:latin typeface="Inter" pitchFamily="34" charset="0"/>
                <a:ea typeface="Inter" pitchFamily="34" charset="-122"/>
                <a:cs typeface="Inter" pitchFamily="34" charset="-120"/>
              </a:rPr>
              <a:t>Architect guardrails</a:t>
            </a:r>
            <a:endParaRPr lang="en-US" sz="1350" dirty="0"/>
          </a:p>
        </p:txBody>
      </p:sp>
      <p:sp>
        <p:nvSpPr>
          <p:cNvPr id="22" name="Text 19"/>
          <p:cNvSpPr/>
          <p:nvPr/>
        </p:nvSpPr>
        <p:spPr>
          <a:xfrm>
            <a:off x="695325" y="4126111"/>
            <a:ext cx="1904238" cy="190500"/>
          </a:xfrm>
          <a:prstGeom prst="rect">
            <a:avLst/>
          </a:prstGeom>
          <a:noFill/>
          <a:ln/>
        </p:spPr>
        <p:txBody>
          <a:bodyPr wrap="square" lIns="0" tIns="0" rIns="0" bIns="0" rtlCol="0" anchor="t"/>
          <a:lstStyle/>
          <a:p>
            <a:pPr indent="0" marL="0">
              <a:lnSpc>
                <a:spcPts val="1500"/>
              </a:lnSpc>
              <a:buNone/>
            </a:pPr>
            <a:r>
              <a:rPr lang="en-US" sz="1050" dirty="0">
                <a:solidFill>
                  <a:srgbClr val="B8C4D8"/>
                </a:solidFill>
                <a:latin typeface="Inter" pitchFamily="34" charset="0"/>
                <a:ea typeface="Inter" pitchFamily="34" charset="-122"/>
                <a:cs typeface="Inter" pitchFamily="34" charset="-120"/>
              </a:rPr>
              <a:t>Least-privilege access design</a:t>
            </a:r>
            <a:endParaRPr lang="en-US" sz="1050" dirty="0"/>
          </a:p>
        </p:txBody>
      </p:sp>
      <p:sp>
        <p:nvSpPr>
          <p:cNvPr id="23" name="Text 20"/>
          <p:cNvSpPr/>
          <p:nvPr/>
        </p:nvSpPr>
        <p:spPr>
          <a:xfrm>
            <a:off x="8153400" y="4126111"/>
            <a:ext cx="301181" cy="190500"/>
          </a:xfrm>
          <a:prstGeom prst="rect">
            <a:avLst/>
          </a:prstGeom>
          <a:noFill/>
          <a:ln/>
        </p:spPr>
        <p:txBody>
          <a:bodyPr wrap="square" lIns="0" tIns="0" rIns="0" bIns="0" rtlCol="0" anchor="t"/>
          <a:lstStyle/>
          <a:p>
            <a:pPr indent="0" marL="0">
              <a:lnSpc>
                <a:spcPts val="1500"/>
              </a:lnSpc>
              <a:buNone/>
            </a:pPr>
            <a:r>
              <a:rPr lang="en-US" sz="1050" dirty="0">
                <a:solidFill>
                  <a:srgbClr val="FFFFFF"/>
                </a:solidFill>
                <a:latin typeface="Inter" pitchFamily="34" charset="0"/>
                <a:ea typeface="Inter" pitchFamily="34" charset="-122"/>
                <a:cs typeface="Inter" pitchFamily="34" charset="-120"/>
              </a:rPr>
              <a:t>95%</a:t>
            </a:r>
            <a:endParaRPr lang="en-US" sz="1050" dirty="0"/>
          </a:p>
        </p:txBody>
      </p:sp>
      <p:sp>
        <p:nvSpPr>
          <p:cNvPr id="24" name="Text 21"/>
          <p:cNvSpPr/>
          <p:nvPr/>
        </p:nvSpPr>
        <p:spPr>
          <a:xfrm>
            <a:off x="695325" y="4716661"/>
            <a:ext cx="1952816" cy="190500"/>
          </a:xfrm>
          <a:prstGeom prst="rect">
            <a:avLst/>
          </a:prstGeom>
          <a:noFill/>
          <a:ln/>
        </p:spPr>
        <p:txBody>
          <a:bodyPr wrap="square" lIns="0" tIns="0" rIns="0" bIns="0" rtlCol="0" anchor="t"/>
          <a:lstStyle/>
          <a:p>
            <a:pPr indent="0" marL="0">
              <a:lnSpc>
                <a:spcPts val="1500"/>
              </a:lnSpc>
              <a:buNone/>
            </a:pPr>
            <a:r>
              <a:rPr lang="en-US" sz="1050" dirty="0">
                <a:solidFill>
                  <a:srgbClr val="B8C4D8"/>
                </a:solidFill>
                <a:latin typeface="Inter" pitchFamily="34" charset="0"/>
                <a:ea typeface="Inter" pitchFamily="34" charset="-122"/>
                <a:cs typeface="Inter" pitchFamily="34" charset="-120"/>
              </a:rPr>
              <a:t>Approved connector inventory</a:t>
            </a:r>
            <a:endParaRPr lang="en-US" sz="1050" dirty="0"/>
          </a:p>
        </p:txBody>
      </p:sp>
      <p:sp>
        <p:nvSpPr>
          <p:cNvPr id="25" name="Text 22"/>
          <p:cNvSpPr/>
          <p:nvPr/>
        </p:nvSpPr>
        <p:spPr>
          <a:xfrm>
            <a:off x="8143875" y="4716661"/>
            <a:ext cx="310896" cy="190500"/>
          </a:xfrm>
          <a:prstGeom prst="rect">
            <a:avLst/>
          </a:prstGeom>
          <a:noFill/>
          <a:ln/>
        </p:spPr>
        <p:txBody>
          <a:bodyPr wrap="square" lIns="0" tIns="0" rIns="0" bIns="0" rtlCol="0" anchor="t"/>
          <a:lstStyle/>
          <a:p>
            <a:pPr indent="0" marL="0">
              <a:lnSpc>
                <a:spcPts val="1500"/>
              </a:lnSpc>
              <a:buNone/>
            </a:pPr>
            <a:r>
              <a:rPr lang="en-US" sz="1050" dirty="0">
                <a:solidFill>
                  <a:srgbClr val="FFFFFF"/>
                </a:solidFill>
                <a:latin typeface="Inter" pitchFamily="34" charset="0"/>
                <a:ea typeface="Inter" pitchFamily="34" charset="-122"/>
                <a:cs typeface="Inter" pitchFamily="34" charset="-120"/>
              </a:rPr>
              <a:t>90%</a:t>
            </a:r>
            <a:endParaRPr lang="en-US" sz="1050" dirty="0"/>
          </a:p>
        </p:txBody>
      </p:sp>
      <p:sp>
        <p:nvSpPr>
          <p:cNvPr id="26" name="Text 23"/>
          <p:cNvSpPr/>
          <p:nvPr/>
        </p:nvSpPr>
        <p:spPr>
          <a:xfrm>
            <a:off x="695325" y="5307211"/>
            <a:ext cx="2681478" cy="190500"/>
          </a:xfrm>
          <a:prstGeom prst="rect">
            <a:avLst/>
          </a:prstGeom>
          <a:noFill/>
          <a:ln/>
        </p:spPr>
        <p:txBody>
          <a:bodyPr wrap="square" lIns="0" tIns="0" rIns="0" bIns="0" rtlCol="0" anchor="t"/>
          <a:lstStyle/>
          <a:p>
            <a:pPr indent="0" marL="0">
              <a:lnSpc>
                <a:spcPts val="1500"/>
              </a:lnSpc>
              <a:buNone/>
            </a:pPr>
            <a:r>
              <a:rPr lang="en-US" sz="1050" dirty="0">
                <a:solidFill>
                  <a:srgbClr val="B8C4D8"/>
                </a:solidFill>
                <a:latin typeface="Inter" pitchFamily="34" charset="0"/>
                <a:ea typeface="Inter" pitchFamily="34" charset="-122"/>
                <a:cs typeface="Inter" pitchFamily="34" charset="-120"/>
              </a:rPr>
              <a:t>Human approval for impactful remediation</a:t>
            </a:r>
            <a:endParaRPr lang="en-US" sz="1050" dirty="0"/>
          </a:p>
        </p:txBody>
      </p:sp>
      <p:sp>
        <p:nvSpPr>
          <p:cNvPr id="27" name="Text 24"/>
          <p:cNvSpPr/>
          <p:nvPr/>
        </p:nvSpPr>
        <p:spPr>
          <a:xfrm>
            <a:off x="8153400" y="5307211"/>
            <a:ext cx="301181" cy="190500"/>
          </a:xfrm>
          <a:prstGeom prst="rect">
            <a:avLst/>
          </a:prstGeom>
          <a:noFill/>
          <a:ln/>
        </p:spPr>
        <p:txBody>
          <a:bodyPr wrap="square" lIns="0" tIns="0" rIns="0" bIns="0" rtlCol="0" anchor="t"/>
          <a:lstStyle/>
          <a:p>
            <a:pPr indent="0" marL="0">
              <a:lnSpc>
                <a:spcPts val="1500"/>
              </a:lnSpc>
              <a:buNone/>
            </a:pPr>
            <a:r>
              <a:rPr lang="en-US" sz="1050" dirty="0">
                <a:solidFill>
                  <a:srgbClr val="FFFFFF"/>
                </a:solidFill>
                <a:latin typeface="Inter" pitchFamily="34" charset="0"/>
                <a:ea typeface="Inter" pitchFamily="34" charset="-122"/>
                <a:cs typeface="Inter" pitchFamily="34" charset="-120"/>
              </a:rPr>
              <a:t>85%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57200" y="1249710"/>
            <a:ext cx="2590800" cy="2830711"/>
          </a:xfrm>
          <a:prstGeom prst="roundRect">
            <a:avLst>
              <a:gd name="adj" fmla="val 70588"/>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4" name="Text 1"/>
          <p:cNvSpPr/>
          <p:nvPr/>
        </p:nvSpPr>
        <p:spPr>
          <a:xfrm>
            <a:off x="3276600" y="1249710"/>
            <a:ext cx="2590800" cy="2830711"/>
          </a:xfrm>
          <a:prstGeom prst="roundRect">
            <a:avLst>
              <a:gd name="adj" fmla="val 70588"/>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5" name="Text 2"/>
          <p:cNvSpPr/>
          <p:nvPr/>
        </p:nvSpPr>
        <p:spPr>
          <a:xfrm>
            <a:off x="6096000" y="1249710"/>
            <a:ext cx="2590800" cy="2830711"/>
          </a:xfrm>
          <a:prstGeom prst="roundRect">
            <a:avLst>
              <a:gd name="adj" fmla="val 70588"/>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6" name="Text 3"/>
          <p:cNvSpPr/>
          <p:nvPr/>
        </p:nvSpPr>
        <p:spPr>
          <a:xfrm>
            <a:off x="457200" y="4347121"/>
            <a:ext cx="8229600" cy="1573411"/>
          </a:xfrm>
          <a:prstGeom prst="roundRect">
            <a:avLst>
              <a:gd name="adj" fmla="val 116232"/>
            </a:avLst>
          </a:prstGeom>
          <a:solidFill>
            <a:srgbClr val="0F172A">
              <a:alpha val="72000"/>
            </a:srgbClr>
          </a:solidFill>
          <a:ln w="9525">
            <a:solidFill>
              <a:srgbClr val="94A3B8"/>
            </a:solidFill>
          </a:ln>
          <a:effectLst>
            <a:outerShdw sx="100000" sy="100000" kx="0" ky="0" algn="bl" rotWithShape="0" blurRad="342900" dist="133350" dir="5400000">
              <a:srgbClr val="020617">
                <a:alpha val="35000"/>
              </a:srgbClr>
            </a:outerShdw>
          </a:effectLst>
        </p:spPr>
        <p:txBody>
          <a:bodyPr wrap="none" lIns="0" tIns="0" rIns="0" bIns="0" rtlCol="0" anchor="ctr">
            <a:normAutofit/>
          </a:bodyPr>
          <a:lstStyle/>
          <a:p>
            <a:pPr indent="0" marL="0">
              <a:buNone/>
            </a:pPr>
            <a:endParaRPr lang="en-US" dirty="0"/>
          </a:p>
        </p:txBody>
      </p:sp>
      <p:sp>
        <p:nvSpPr>
          <p:cNvPr id="7" name="Text 4"/>
          <p:cNvSpPr/>
          <p:nvPr/>
        </p:nvSpPr>
        <p:spPr>
          <a:xfrm>
            <a:off x="457200" y="-777032"/>
            <a:ext cx="8394192"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adoption_blueprint</a:t>
            </a:r>
            <a:endParaRPr lang="en-US" sz="960" dirty="0"/>
          </a:p>
        </p:txBody>
      </p:sp>
      <p:sp>
        <p:nvSpPr>
          <p:cNvPr id="8" name="Text 5"/>
          <p:cNvSpPr/>
          <p:nvPr/>
        </p:nvSpPr>
        <p:spPr>
          <a:xfrm>
            <a:off x="457200" y="-518071"/>
            <a:ext cx="8229600" cy="1462980"/>
          </a:xfrm>
          <a:prstGeom prst="rect">
            <a:avLst/>
          </a:prstGeom>
          <a:noFill/>
          <a:ln/>
        </p:spPr>
        <p:txBody>
          <a:bodyPr wrap="square" lIns="0" tIns="0" rIns="0" bIns="0" rtlCol="0" anchor="t"/>
          <a:lstStyle/>
          <a:p>
            <a:pPr indent="0" marL="0">
              <a:lnSpc>
                <a:spcPts val="5760"/>
              </a:lnSpc>
              <a:buNone/>
            </a:pPr>
            <a:r>
              <a:rPr lang="en-US" sz="3840" b="1" dirty="0">
                <a:solidFill>
                  <a:srgbClr val="FFFFFF"/>
                </a:solidFill>
                <a:latin typeface="JetBrains Mono" pitchFamily="34" charset="0"/>
                <a:ea typeface="JetBrains Mono" pitchFamily="34" charset="-122"/>
                <a:cs typeface="JetBrains Mono" pitchFamily="34" charset="-120"/>
              </a:rPr>
              <a:t>Adoption blueprint for platform teams</a:t>
            </a:r>
            <a:endParaRPr lang="en-US" sz="3840" dirty="0"/>
          </a:p>
        </p:txBody>
      </p:sp>
      <p:sp>
        <p:nvSpPr>
          <p:cNvPr id="9" name="Text 6"/>
          <p:cNvSpPr/>
          <p:nvPr/>
        </p:nvSpPr>
        <p:spPr>
          <a:xfrm>
            <a:off x="733425" y="1525935"/>
            <a:ext cx="2079117"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phase_01</a:t>
            </a:r>
            <a:endParaRPr lang="en-US" sz="960" dirty="0"/>
          </a:p>
        </p:txBody>
      </p:sp>
      <p:sp>
        <p:nvSpPr>
          <p:cNvPr id="10" name="Text 7"/>
          <p:cNvSpPr/>
          <p:nvPr/>
        </p:nvSpPr>
        <p:spPr>
          <a:xfrm>
            <a:off x="733425" y="1822996"/>
            <a:ext cx="2079117" cy="266700"/>
          </a:xfrm>
          <a:prstGeom prst="rect">
            <a:avLst/>
          </a:prstGeom>
          <a:noFill/>
          <a:ln/>
        </p:spPr>
        <p:txBody>
          <a:bodyPr wrap="square" lIns="0" tIns="0" rIns="0" bIns="0" rtlCol="0" anchor="t"/>
          <a:lstStyle/>
          <a:p>
            <a:pPr indent="0" marL="0">
              <a:lnSpc>
                <a:spcPts val="2100"/>
              </a:lnSpc>
              <a:buNone/>
            </a:pPr>
            <a:r>
              <a:rPr lang="en-US" sz="1500" b="1" dirty="0">
                <a:solidFill>
                  <a:srgbClr val="FFFFFF"/>
                </a:solidFill>
                <a:latin typeface="Inter" pitchFamily="34" charset="0"/>
                <a:ea typeface="Inter" pitchFamily="34" charset="-122"/>
                <a:cs typeface="Inter" pitchFamily="34" charset="-120"/>
              </a:rPr>
              <a:t>Bootstrap</a:t>
            </a:r>
            <a:endParaRPr lang="en-US" sz="1500" dirty="0"/>
          </a:p>
        </p:txBody>
      </p:sp>
      <p:sp>
        <p:nvSpPr>
          <p:cNvPr id="11" name="Text 8"/>
          <p:cNvSpPr/>
          <p:nvPr/>
        </p:nvSpPr>
        <p:spPr>
          <a:xfrm>
            <a:off x="733425" y="2203996"/>
            <a:ext cx="2038350" cy="1371600"/>
          </a:xfrm>
          <a:prstGeom prst="rect">
            <a:avLst/>
          </a:prstGeom>
          <a:noFill/>
          <a:ln/>
        </p:spPr>
        <p:txBody>
          <a:bodyPr wrap="square" lIns="0" tIns="0" rIns="0" bIns="0" rtlCol="0" anchor="t"/>
          <a:lstStyle/>
          <a:p>
            <a:pPr indent="0" marL="0">
              <a:lnSpc>
                <a:spcPts val="1800"/>
              </a:lnSpc>
              <a:buNone/>
            </a:pPr>
            <a:r>
              <a:rPr lang="en-US" sz="1200" dirty="0">
                <a:solidFill>
                  <a:srgbClr val="B8C4D8"/>
                </a:solidFill>
                <a:latin typeface="Inter" pitchFamily="34" charset="0"/>
                <a:ea typeface="Inter" pitchFamily="34" charset="-122"/>
                <a:cs typeface="Inter" pitchFamily="34" charset="-120"/>
              </a:rPr>
              <a:t>Create Agent Spaces, attach target accounts, and connect the minimum viable telemetry, repository, and incident tools needed for a useful graph.</a:t>
            </a:r>
            <a:endParaRPr lang="en-US" sz="1200" dirty="0"/>
          </a:p>
        </p:txBody>
      </p:sp>
      <p:sp>
        <p:nvSpPr>
          <p:cNvPr id="12" name="Text 9"/>
          <p:cNvSpPr/>
          <p:nvPr/>
        </p:nvSpPr>
        <p:spPr>
          <a:xfrm>
            <a:off x="3552825" y="1525935"/>
            <a:ext cx="2079117"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phase_02</a:t>
            </a:r>
            <a:endParaRPr lang="en-US" sz="960" dirty="0"/>
          </a:p>
        </p:txBody>
      </p:sp>
      <p:sp>
        <p:nvSpPr>
          <p:cNvPr id="13" name="Text 10"/>
          <p:cNvSpPr/>
          <p:nvPr/>
        </p:nvSpPr>
        <p:spPr>
          <a:xfrm>
            <a:off x="3552825" y="1822996"/>
            <a:ext cx="2079117" cy="266700"/>
          </a:xfrm>
          <a:prstGeom prst="rect">
            <a:avLst/>
          </a:prstGeom>
          <a:noFill/>
          <a:ln/>
        </p:spPr>
        <p:txBody>
          <a:bodyPr wrap="square" lIns="0" tIns="0" rIns="0" bIns="0" rtlCol="0" anchor="t"/>
          <a:lstStyle/>
          <a:p>
            <a:pPr indent="0" marL="0">
              <a:lnSpc>
                <a:spcPts val="2100"/>
              </a:lnSpc>
              <a:buNone/>
            </a:pPr>
            <a:r>
              <a:rPr lang="en-US" sz="1500" b="1" dirty="0">
                <a:solidFill>
                  <a:srgbClr val="FFFFFF"/>
                </a:solidFill>
                <a:latin typeface="Inter" pitchFamily="34" charset="0"/>
                <a:ea typeface="Inter" pitchFamily="34" charset="-122"/>
                <a:cs typeface="Inter" pitchFamily="34" charset="-120"/>
              </a:rPr>
              <a:t>Validate</a:t>
            </a:r>
            <a:endParaRPr lang="en-US" sz="1500" dirty="0"/>
          </a:p>
        </p:txBody>
      </p:sp>
      <p:sp>
        <p:nvSpPr>
          <p:cNvPr id="14" name="Text 11"/>
          <p:cNvSpPr/>
          <p:nvPr/>
        </p:nvSpPr>
        <p:spPr>
          <a:xfrm>
            <a:off x="3552825" y="2203996"/>
            <a:ext cx="2038350" cy="1600200"/>
          </a:xfrm>
          <a:prstGeom prst="rect">
            <a:avLst/>
          </a:prstGeom>
          <a:noFill/>
          <a:ln/>
        </p:spPr>
        <p:txBody>
          <a:bodyPr wrap="square" lIns="0" tIns="0" rIns="0" bIns="0" rtlCol="0" anchor="t"/>
          <a:lstStyle/>
          <a:p>
            <a:pPr indent="0" marL="0">
              <a:lnSpc>
                <a:spcPts val="1800"/>
              </a:lnSpc>
              <a:buNone/>
            </a:pPr>
            <a:r>
              <a:rPr lang="en-US" sz="1200" dirty="0">
                <a:solidFill>
                  <a:srgbClr val="B8C4D8"/>
                </a:solidFill>
                <a:latin typeface="Inter" pitchFamily="34" charset="0"/>
                <a:ea typeface="Inter" pitchFamily="34" charset="-122"/>
                <a:cs typeface="Inter" pitchFamily="34" charset="-120"/>
              </a:rPr>
              <a:t>Pilot against one service domain, compare MTTR and investigation quality, and verify whether recommendations are actionable for operators and architects.</a:t>
            </a:r>
            <a:endParaRPr lang="en-US" sz="1200" dirty="0"/>
          </a:p>
        </p:txBody>
      </p:sp>
      <p:sp>
        <p:nvSpPr>
          <p:cNvPr id="15" name="Text 12"/>
          <p:cNvSpPr/>
          <p:nvPr/>
        </p:nvSpPr>
        <p:spPr>
          <a:xfrm>
            <a:off x="6372225" y="1525935"/>
            <a:ext cx="2079117"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phase_03</a:t>
            </a:r>
            <a:endParaRPr lang="en-US" sz="960" dirty="0"/>
          </a:p>
        </p:txBody>
      </p:sp>
      <p:sp>
        <p:nvSpPr>
          <p:cNvPr id="16" name="Text 13"/>
          <p:cNvSpPr/>
          <p:nvPr/>
        </p:nvSpPr>
        <p:spPr>
          <a:xfrm>
            <a:off x="6372225" y="1822996"/>
            <a:ext cx="2079117" cy="266700"/>
          </a:xfrm>
          <a:prstGeom prst="rect">
            <a:avLst/>
          </a:prstGeom>
          <a:noFill/>
          <a:ln/>
        </p:spPr>
        <p:txBody>
          <a:bodyPr wrap="square" lIns="0" tIns="0" rIns="0" bIns="0" rtlCol="0" anchor="t"/>
          <a:lstStyle/>
          <a:p>
            <a:pPr indent="0" marL="0">
              <a:lnSpc>
                <a:spcPts val="2100"/>
              </a:lnSpc>
              <a:buNone/>
            </a:pPr>
            <a:r>
              <a:rPr lang="en-US" sz="1500" b="1" dirty="0">
                <a:solidFill>
                  <a:srgbClr val="FFFFFF"/>
                </a:solidFill>
                <a:latin typeface="Inter" pitchFamily="34" charset="0"/>
                <a:ea typeface="Inter" pitchFamily="34" charset="-122"/>
                <a:cs typeface="Inter" pitchFamily="34" charset="-120"/>
              </a:rPr>
              <a:t>Scale</a:t>
            </a:r>
            <a:endParaRPr lang="en-US" sz="1500" dirty="0"/>
          </a:p>
        </p:txBody>
      </p:sp>
      <p:sp>
        <p:nvSpPr>
          <p:cNvPr id="17" name="Text 14"/>
          <p:cNvSpPr/>
          <p:nvPr/>
        </p:nvSpPr>
        <p:spPr>
          <a:xfrm>
            <a:off x="6372225" y="2203996"/>
            <a:ext cx="2038350" cy="1600200"/>
          </a:xfrm>
          <a:prstGeom prst="rect">
            <a:avLst/>
          </a:prstGeom>
          <a:noFill/>
          <a:ln/>
        </p:spPr>
        <p:txBody>
          <a:bodyPr wrap="square" lIns="0" tIns="0" rIns="0" bIns="0" rtlCol="0" anchor="t"/>
          <a:lstStyle/>
          <a:p>
            <a:pPr indent="0" marL="0">
              <a:lnSpc>
                <a:spcPts val="1800"/>
              </a:lnSpc>
              <a:buNone/>
            </a:pPr>
            <a:r>
              <a:rPr lang="en-US" sz="1200" dirty="0">
                <a:solidFill>
                  <a:srgbClr val="B8C4D8"/>
                </a:solidFill>
                <a:latin typeface="Inter" pitchFamily="34" charset="0"/>
                <a:ea typeface="Inter" pitchFamily="34" charset="-122"/>
                <a:cs typeface="Inter" pitchFamily="34" charset="-120"/>
              </a:rPr>
              <a:t>Expand to more workloads, incorporate prevention outputs into architecture reviews, and use governance controls to standardize secure usage patterns.</a:t>
            </a:r>
            <a:endParaRPr lang="en-US" sz="1200" dirty="0"/>
          </a:p>
        </p:txBody>
      </p:sp>
      <p:sp>
        <p:nvSpPr>
          <p:cNvPr id="18" name="Text 15"/>
          <p:cNvSpPr/>
          <p:nvPr/>
        </p:nvSpPr>
        <p:spPr>
          <a:xfrm>
            <a:off x="657225" y="4547146"/>
            <a:ext cx="2558364"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best_fit</a:t>
            </a:r>
            <a:endParaRPr lang="en-US" sz="960" dirty="0"/>
          </a:p>
        </p:txBody>
      </p:sp>
      <p:sp>
        <p:nvSpPr>
          <p:cNvPr id="19" name="Text 16"/>
          <p:cNvSpPr/>
          <p:nvPr/>
        </p:nvSpPr>
        <p:spPr>
          <a:xfrm>
            <a:off x="657225" y="4806107"/>
            <a:ext cx="2508200" cy="68580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Inter" pitchFamily="34" charset="0"/>
                <a:ea typeface="Inter" pitchFamily="34" charset="-122"/>
                <a:cs typeface="Inter" pitchFamily="34" charset="-120"/>
              </a:rPr>
              <a:t>Organizations with AWS-centric platforms, multicloud telemetry, and mature incident processes.</a:t>
            </a:r>
            <a:endParaRPr lang="en-US" sz="1200" dirty="0"/>
          </a:p>
        </p:txBody>
      </p:sp>
      <p:sp>
        <p:nvSpPr>
          <p:cNvPr id="20" name="Text 17"/>
          <p:cNvSpPr/>
          <p:nvPr/>
        </p:nvSpPr>
        <p:spPr>
          <a:xfrm>
            <a:off x="3317825" y="4547146"/>
            <a:ext cx="2558364"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success_metric</a:t>
            </a:r>
            <a:endParaRPr lang="en-US" sz="960" dirty="0"/>
          </a:p>
        </p:txBody>
      </p:sp>
      <p:sp>
        <p:nvSpPr>
          <p:cNvPr id="21" name="Text 18"/>
          <p:cNvSpPr/>
          <p:nvPr/>
        </p:nvSpPr>
        <p:spPr>
          <a:xfrm>
            <a:off x="3317825" y="4806107"/>
            <a:ext cx="2508200" cy="91440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Inter" pitchFamily="34" charset="0"/>
                <a:ea typeface="Inter" pitchFamily="34" charset="-122"/>
                <a:cs typeface="Inter" pitchFamily="34" charset="-120"/>
              </a:rPr>
              <a:t>Reduced toil, better root-cause signal, faster investigations, and stronger preventive remediation backlog.</a:t>
            </a:r>
            <a:endParaRPr lang="en-US" sz="1200" dirty="0"/>
          </a:p>
        </p:txBody>
      </p:sp>
      <p:sp>
        <p:nvSpPr>
          <p:cNvPr id="22" name="Text 19"/>
          <p:cNvSpPr/>
          <p:nvPr/>
        </p:nvSpPr>
        <p:spPr>
          <a:xfrm>
            <a:off x="5978426" y="4547146"/>
            <a:ext cx="2558516" cy="182761"/>
          </a:xfrm>
          <a:prstGeom prst="rect">
            <a:avLst/>
          </a:prstGeom>
          <a:noFill/>
          <a:ln/>
        </p:spPr>
        <p:txBody>
          <a:bodyPr wrap="square" lIns="0" tIns="0" rIns="0" bIns="0" rtlCol="0" anchor="t"/>
          <a:lstStyle/>
          <a:p>
            <a:pPr indent="0" marL="0">
              <a:lnSpc>
                <a:spcPts val="1440"/>
              </a:lnSpc>
              <a:buNone/>
            </a:pPr>
            <a:r>
              <a:rPr lang="en-US" sz="960" dirty="0">
                <a:solidFill>
                  <a:srgbClr val="93C5FD"/>
                </a:solidFill>
                <a:latin typeface="JetBrains Mono" pitchFamily="34" charset="0"/>
                <a:ea typeface="JetBrains Mono" pitchFamily="34" charset="-122"/>
                <a:cs typeface="JetBrains Mono" pitchFamily="34" charset="-120"/>
              </a:rPr>
              <a:t>architect_takeaway</a:t>
            </a:r>
            <a:endParaRPr lang="en-US" sz="960" dirty="0"/>
          </a:p>
        </p:txBody>
      </p:sp>
      <p:sp>
        <p:nvSpPr>
          <p:cNvPr id="23" name="Text 20"/>
          <p:cNvSpPr/>
          <p:nvPr/>
        </p:nvSpPr>
        <p:spPr>
          <a:xfrm>
            <a:off x="5978426" y="4806107"/>
            <a:ext cx="2508349" cy="91440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Inter" pitchFamily="34" charset="0"/>
                <a:ea typeface="Inter" pitchFamily="34" charset="-122"/>
                <a:cs typeface="Inter" pitchFamily="34" charset="-120"/>
              </a:rPr>
              <a:t>Treat the agent as an operational reasoning layer on top of your existing topology and engineering systems.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Perplexity</cp:lastModifiedBy>
  <cp:revision>1</cp:revision>
  <dcterms:created xsi:type="dcterms:W3CDTF">2026-04-28T10:32:58Z</dcterms:created>
  <dcterms:modified xsi:type="dcterms:W3CDTF">2026-04-28T10:32:58Z</dcterms:modified>
</cp:coreProperties>
</file>